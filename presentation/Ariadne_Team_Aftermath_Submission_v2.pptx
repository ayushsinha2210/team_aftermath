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7" roundtripDataSignature="AMtx7mgQuomGbdS/wh2yqkB/K4YAZ70YA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0218" autoAdjust="0"/>
  </p:normalViewPr>
  <p:slideViewPr>
    <p:cSldViewPr snapToGrid="0">
      <p:cViewPr varScale="1">
        <p:scale>
          <a:sx n="71" d="100"/>
          <a:sy n="71" d="100"/>
        </p:scale>
        <p:origin x="1109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HILASH SINGH" userId="1184774f3f6ffd68" providerId="LiveId" clId="{8C64058F-4A53-4092-95DD-1D1C9476134E}"/>
    <pc:docChg chg="undo custSel modSld">
      <pc:chgData name="ABHILASH SINGH" userId="1184774f3f6ffd68" providerId="LiveId" clId="{8C64058F-4A53-4092-95DD-1D1C9476134E}" dt="2026-09-30T13:29:41.050" v="7" actId="478"/>
      <pc:docMkLst>
        <pc:docMk/>
      </pc:docMkLst>
      <pc:sldChg chg="delSp modSp mod">
        <pc:chgData name="ABHILASH SINGH" userId="1184774f3f6ffd68" providerId="LiveId" clId="{8C64058F-4A53-4092-95DD-1D1C9476134E}" dt="2026-09-30T13:20:01.268" v="6" actId="21"/>
        <pc:sldMkLst>
          <pc:docMk/>
          <pc:sldMk cId="0" sldId="259"/>
        </pc:sldMkLst>
        <pc:spChg chg="mod">
          <ac:chgData name="ABHILASH SINGH" userId="1184774f3f6ffd68" providerId="LiveId" clId="{8C64058F-4A53-4092-95DD-1D1C9476134E}" dt="2026-09-30T13:20:01.268" v="6" actId="21"/>
          <ac:spMkLst>
            <pc:docMk/>
            <pc:sldMk cId="0" sldId="259"/>
            <ac:spMk id="113" creationId="{00000000-0000-0000-0000-000000000000}"/>
          </ac:spMkLst>
        </pc:spChg>
        <pc:spChg chg="del">
          <ac:chgData name="ABHILASH SINGH" userId="1184774f3f6ffd68" providerId="LiveId" clId="{8C64058F-4A53-4092-95DD-1D1C9476134E}" dt="2026-09-30T13:19:44.361" v="2" actId="478"/>
          <ac:spMkLst>
            <pc:docMk/>
            <pc:sldMk cId="0" sldId="259"/>
            <ac:spMk id="114" creationId="{00000000-0000-0000-0000-000000000000}"/>
          </ac:spMkLst>
        </pc:spChg>
      </pc:sldChg>
      <pc:sldChg chg="delSp mod">
        <pc:chgData name="ABHILASH SINGH" userId="1184774f3f6ffd68" providerId="LiveId" clId="{8C64058F-4A53-4092-95DD-1D1C9476134E}" dt="2026-09-30T13:29:41.050" v="7" actId="478"/>
        <pc:sldMkLst>
          <pc:docMk/>
          <pc:sldMk cId="0" sldId="264"/>
        </pc:sldMkLst>
        <pc:spChg chg="del">
          <ac:chgData name="ABHILASH SINGH" userId="1184774f3f6ffd68" providerId="LiveId" clId="{8C64058F-4A53-4092-95DD-1D1C9476134E}" dt="2026-09-30T13:29:41.050" v="7" actId="478"/>
          <ac:spMkLst>
            <pc:docMk/>
            <pc:sldMk cId="0" sldId="264"/>
            <ac:spMk id="144" creationId="{00000000-0000-0000-0000-000000000000}"/>
          </ac:spMkLst>
        </pc:spChg>
      </pc:sldChg>
      <pc:sldChg chg="delSp mod">
        <pc:chgData name="ABHILASH SINGH" userId="1184774f3f6ffd68" providerId="LiveId" clId="{8C64058F-4A53-4092-95DD-1D1C9476134E}" dt="2026-09-30T13:19:36.324" v="1" actId="478"/>
        <pc:sldMkLst>
          <pc:docMk/>
          <pc:sldMk cId="0" sldId="266"/>
        </pc:sldMkLst>
        <pc:spChg chg="del">
          <ac:chgData name="ABHILASH SINGH" userId="1184774f3f6ffd68" providerId="LiveId" clId="{8C64058F-4A53-4092-95DD-1D1C9476134E}" dt="2026-09-30T13:19:36.324" v="1" actId="478"/>
          <ac:spMkLst>
            <pc:docMk/>
            <pc:sldMk cId="0" sldId="266"/>
            <ac:spMk id="156" creationId="{00000000-0000-0000-0000-000000000000}"/>
          </ac:spMkLst>
        </pc:spChg>
      </pc:sldChg>
      <pc:sldChg chg="modSp mod">
        <pc:chgData name="ABHILASH SINGH" userId="1184774f3f6ffd68" providerId="LiveId" clId="{8C64058F-4A53-4092-95DD-1D1C9476134E}" dt="2026-09-30T13:19:28.622" v="0" actId="1076"/>
        <pc:sldMkLst>
          <pc:docMk/>
          <pc:sldMk cId="0" sldId="267"/>
        </pc:sldMkLst>
        <pc:spChg chg="mod">
          <ac:chgData name="ABHILASH SINGH" userId="1184774f3f6ffd68" providerId="LiveId" clId="{8C64058F-4A53-4092-95DD-1D1C9476134E}" dt="2026-09-30T13:19:28.622" v="0" actId="1076"/>
          <ac:spMkLst>
            <pc:docMk/>
            <pc:sldMk cId="0" sldId="267"/>
            <ac:spMk id="16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" name="Google Shape;8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Index code with Tree-Sitter, function chunks and SHA-256 diffs; reuse unchanged embeddings and maintain retrieval/graph data.</a:t>
            </a:r>
          </a:p>
          <a:p>
            <a:r>
              <a:t>Dense and lexical retrieval support hybrid RRF; the separately evaluated dense cascade bypassed reranking for 58% of 50 validation queries at margin 0.08.</a:t>
            </a:r>
          </a:p>
          <a:p>
            <a:r>
              <a:t>Structural queries use AST call-order analysis; the example calls authTool before bluetoothTool and returns settingsAgent.js:18–29. Calibration is evaluated separately in Config C/D.</a:t>
            </a:r>
          </a:p>
        </p:txBody>
      </p:sp>
      <p:sp>
        <p:nvSpPr>
          <p:cNvPr id="111" name="Google Shape;11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9" name="Google Shape;159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Closing slide. Add the Google Form URL and a contact email before sharing. Edition 2 </a:t>
            </a:r>
            <a:r>
              <a:rPr lang="en-US" dirty="0" err="1"/>
              <a:t>organising</a:t>
            </a:r>
            <a:r>
              <a:rPr lang="en-US" dirty="0"/>
              <a:t> team for reference: Language AI - Sourabh Tiwari, Gaurav, Sanjeeth </a:t>
            </a:r>
            <a:r>
              <a:rPr lang="en-US" dirty="0" err="1"/>
              <a:t>Pothireddy</a:t>
            </a:r>
            <a:r>
              <a:rPr lang="en-US" dirty="0"/>
              <a:t>, </a:t>
            </a:r>
            <a:r>
              <a:rPr lang="en-US" dirty="0" err="1"/>
              <a:t>Gorang</a:t>
            </a:r>
            <a:r>
              <a:rPr lang="en-US" dirty="0"/>
              <a:t> Maniar; PRISM - Binny Lakra, Prakhar </a:t>
            </a:r>
            <a:r>
              <a:rPr lang="en-US" dirty="0" err="1"/>
              <a:t>Chandrakar</a:t>
            </a:r>
            <a:r>
              <a:rPr lang="en-US" dirty="0"/>
              <a:t>, Vishu Kumar; Kick-off and mentors - Giridhar Jakki, </a:t>
            </a:r>
            <a:r>
              <a:rPr lang="en-US" dirty="0" err="1"/>
              <a:t>Deepraj</a:t>
            </a:r>
            <a:r>
              <a:rPr lang="en-US" dirty="0"/>
              <a:t> Prabhakar Patkar (Language AI), </a:t>
            </a:r>
            <a:r>
              <a:rPr lang="en-US" dirty="0" err="1"/>
              <a:t>Srimanu</a:t>
            </a:r>
            <a:r>
              <a:rPr lang="en-US" dirty="0"/>
              <a:t> Prasad Nagaraju, Ashish Kumar (Tech Strategy).</a:t>
            </a:r>
            <a:endParaRPr dirty="0"/>
          </a:p>
        </p:txBody>
      </p:sp>
      <p:sp>
        <p:nvSpPr>
          <p:cNvPr id="160" name="Google Shape;160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" name="Google Shape;19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6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6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5" name="Google Shape;25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7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7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1" name="Google Shape;3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4" name="Google Shape;44;p1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1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6" name="Google Shape;46;p1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2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2" name="Google Shape;62;p2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3" name="Google Shape;63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2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0" name="Google Shape;7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/>
          <p:nvPr/>
        </p:nvSpPr>
        <p:spPr>
          <a:xfrm>
            <a:off x="777240" y="676656"/>
            <a:ext cx="242316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 cap="flat" cmpd="sng">
            <a:solidFill>
              <a:srgbClr val="D9D3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1"/>
          <p:cNvSpPr txBox="1"/>
          <p:nvPr/>
        </p:nvSpPr>
        <p:spPr>
          <a:xfrm>
            <a:off x="777240" y="676656"/>
            <a:ext cx="24231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SAMSUNG PRISM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777240" y="1207008"/>
            <a:ext cx="612648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5000"/>
              <a:buFont typeface="Arial"/>
              <a:buNone/>
            </a:pPr>
            <a:r>
              <a:rPr lang="en-US" sz="5000" b="1" i="0" u="none" strike="noStrike" cap="none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Generative AI</a:t>
            </a:r>
            <a:endParaRPr sz="5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777240" y="1901952"/>
            <a:ext cx="612648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5000"/>
              <a:buFont typeface="Arial"/>
              <a:buNone/>
            </a:pPr>
            <a:r>
              <a:rPr lang="en-US" sz="5000" b="1" i="0" u="none" strike="noStrike" cap="non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Hackathon</a:t>
            </a:r>
            <a:endParaRPr sz="5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777240" y="2724912"/>
            <a:ext cx="61264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2500"/>
              <a:buFont typeface="Arial"/>
              <a:buNone/>
            </a:pPr>
            <a:r>
              <a:rPr lang="en-US" sz="2500" b="1" i="0" u="none" strike="noStrike" cap="none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3rd Edition</a:t>
            </a:r>
            <a:r>
              <a:rPr lang="en-US" sz="2000" b="0" i="0" u="none" strike="noStrike" cap="non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   2026 – 27</a:t>
            </a:r>
            <a:endParaRPr sz="2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777240" y="3310128"/>
            <a:ext cx="585216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77800" marR="0" lvl="0" indent="-177800" algn="l" rtl="0">
              <a:spcBef>
                <a:spcPts val="0"/>
              </a:spcBef>
              <a:spcAft>
                <a:spcPts val="50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sz="1250" b="0" dirty="0">
                <a:solidFill>
                  <a:srgbClr val="5C5E70"/>
                </a:solidFill>
                <a:latin typeface="Aptos"/>
              </a:rPr>
              <a:t>Theme ID - </a:t>
            </a:r>
            <a:r>
              <a:rPr sz="1250" b="1" dirty="0">
                <a:solidFill>
                  <a:srgbClr val="12122B"/>
                </a:solidFill>
                <a:latin typeface="Aptos"/>
              </a:rPr>
              <a:t>Theme 01 — Agentic Code Intelligence</a:t>
            </a:r>
            <a:endParaRPr dirty="0"/>
          </a:p>
          <a:p>
            <a:pPr>
              <a:spcAft>
                <a:spcPts val="500"/>
              </a:spcAft>
            </a:pPr>
            <a:r>
              <a:rPr sz="1250" b="0" dirty="0">
                <a:solidFill>
                  <a:srgbClr val="5C5E70"/>
                </a:solidFill>
                <a:latin typeface="Aptos"/>
              </a:rPr>
              <a:t>Team Name - </a:t>
            </a:r>
            <a:r>
              <a:rPr sz="1250" b="1" dirty="0">
                <a:solidFill>
                  <a:srgbClr val="12122B"/>
                </a:solidFill>
                <a:latin typeface="Aptos"/>
              </a:rPr>
              <a:t>Team Aftermath</a:t>
            </a:r>
          </a:p>
          <a:p>
            <a:pPr>
              <a:spcAft>
                <a:spcPts val="500"/>
              </a:spcAft>
            </a:pPr>
            <a:r>
              <a:rPr sz="1250" b="0" dirty="0">
                <a:solidFill>
                  <a:srgbClr val="5C5E70"/>
                </a:solidFill>
                <a:latin typeface="Aptos"/>
              </a:rPr>
              <a:t>College Name - </a:t>
            </a:r>
            <a:r>
              <a:rPr sz="1250" b="1" dirty="0">
                <a:solidFill>
                  <a:srgbClr val="12122B"/>
                </a:solidFill>
                <a:latin typeface="Aptos"/>
              </a:rPr>
              <a:t>VIT Vellore</a:t>
            </a:r>
          </a:p>
          <a:p>
            <a:pPr>
              <a:spcAft>
                <a:spcPts val="500"/>
              </a:spcAft>
            </a:pPr>
            <a:r>
              <a:rPr sz="1250" b="0" dirty="0">
                <a:solidFill>
                  <a:srgbClr val="5C5E70"/>
                </a:solidFill>
                <a:latin typeface="Aptos"/>
              </a:rPr>
              <a:t>Member 1 - </a:t>
            </a:r>
            <a:r>
              <a:rPr sz="1250" b="1" dirty="0">
                <a:solidFill>
                  <a:srgbClr val="12122B"/>
                </a:solidFill>
                <a:latin typeface="Aptos"/>
              </a:rPr>
              <a:t>Ayush Sinha | ayush.sinha2024@vitstudent.ac.in</a:t>
            </a:r>
          </a:p>
          <a:p>
            <a:pPr>
              <a:spcAft>
                <a:spcPts val="500"/>
              </a:spcAft>
            </a:pPr>
            <a:r>
              <a:rPr sz="1250" b="0" dirty="0">
                <a:solidFill>
                  <a:srgbClr val="5C5E70"/>
                </a:solidFill>
                <a:latin typeface="Aptos"/>
              </a:rPr>
              <a:t>Member 2 - </a:t>
            </a:r>
            <a:r>
              <a:rPr sz="1250" b="1" dirty="0">
                <a:solidFill>
                  <a:srgbClr val="12122B"/>
                </a:solidFill>
                <a:latin typeface="Aptos"/>
              </a:rPr>
              <a:t>Hiten Kaura | hit.kaura78@gmail.com</a:t>
            </a:r>
          </a:p>
          <a:p>
            <a:pPr>
              <a:spcAft>
                <a:spcPts val="500"/>
              </a:spcAft>
            </a:pPr>
            <a:r>
              <a:rPr sz="1250" b="0" dirty="0">
                <a:solidFill>
                  <a:srgbClr val="5C5E70"/>
                </a:solidFill>
                <a:latin typeface="Aptos"/>
              </a:rPr>
              <a:t>Member 3 - </a:t>
            </a:r>
            <a:r>
              <a:rPr sz="1250" b="1" dirty="0">
                <a:solidFill>
                  <a:srgbClr val="12122B"/>
                </a:solidFill>
                <a:latin typeface="Aptos"/>
              </a:rPr>
              <a:t>Atharva </a:t>
            </a:r>
            <a:r>
              <a:rPr sz="1250" b="1" dirty="0" err="1">
                <a:solidFill>
                  <a:srgbClr val="12122B"/>
                </a:solidFill>
                <a:latin typeface="Aptos"/>
              </a:rPr>
              <a:t>Sheersh</a:t>
            </a:r>
            <a:r>
              <a:rPr sz="1250" b="1" dirty="0">
                <a:solidFill>
                  <a:srgbClr val="12122B"/>
                </a:solidFill>
                <a:latin typeface="Aptos"/>
              </a:rPr>
              <a:t> Pandey | pandeyakshat466@gmail.com</a:t>
            </a:r>
          </a:p>
          <a:p>
            <a:pPr>
              <a:spcAft>
                <a:spcPts val="500"/>
              </a:spcAft>
            </a:pPr>
            <a:r>
              <a:rPr sz="1250" b="0" dirty="0">
                <a:solidFill>
                  <a:srgbClr val="5C5E70"/>
                </a:solidFill>
                <a:latin typeface="Aptos"/>
              </a:rPr>
              <a:t>Member 4 - </a:t>
            </a:r>
            <a:r>
              <a:rPr sz="1250" b="1" dirty="0">
                <a:solidFill>
                  <a:srgbClr val="12122B"/>
                </a:solidFill>
                <a:latin typeface="Aptos"/>
              </a:rPr>
              <a:t>Abhilash Singh | abhilashsingh2005@gmail.com</a:t>
            </a:r>
          </a:p>
          <a:p>
            <a:pPr>
              <a:spcAft>
                <a:spcPts val="500"/>
              </a:spcAft>
            </a:pPr>
            <a:r>
              <a:rPr sz="1250" b="0" dirty="0">
                <a:solidFill>
                  <a:srgbClr val="5C5E70"/>
                </a:solidFill>
                <a:latin typeface="Aptos"/>
              </a:rPr>
              <a:t>Submission </a:t>
            </a:r>
            <a:r>
              <a:rPr sz="1250" b="0" dirty="0" err="1">
                <a:solidFill>
                  <a:srgbClr val="5C5E70"/>
                </a:solidFill>
                <a:latin typeface="Aptos"/>
              </a:rPr>
              <a:t>Github</a:t>
            </a:r>
            <a:r>
              <a:rPr sz="1250" b="0" dirty="0">
                <a:solidFill>
                  <a:srgbClr val="5C5E70"/>
                </a:solidFill>
                <a:latin typeface="Aptos"/>
              </a:rPr>
              <a:t> link - </a:t>
            </a:r>
            <a:r>
              <a:rPr sz="1250" b="1" dirty="0">
                <a:solidFill>
                  <a:srgbClr val="672DBE"/>
                </a:solidFill>
                <a:latin typeface="Aptos"/>
              </a:rPr>
              <a:t>https://github.com/AyushSinha2210/Team_Aftermath</a:t>
            </a:r>
          </a:p>
        </p:txBody>
      </p:sp>
      <p:pic>
        <p:nvPicPr>
          <p:cNvPr id="96" name="Google Shape;96;p1" descr="hero_network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59168" y="1051560"/>
            <a:ext cx="4572000" cy="457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t>Theme</a:t>
            </a:r>
          </a:p>
        </p:txBody>
      </p:sp>
      <p:sp>
        <p:nvSpPr>
          <p:cNvPr id="102" name="Google Shape;102;p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2800"/>
              <a:buNone/>
            </a:pPr>
            <a:r>
              <a:rPr sz="2300" b="1">
                <a:solidFill>
                  <a:srgbClr val="672DBE"/>
                </a:solidFill>
                <a:latin typeface="Aptos"/>
              </a:rPr>
              <a:t>Theme 01 — Agentic Code Intelligence</a:t>
            </a:r>
            <a:endParaRPr/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1E1F30"/>
                </a:solidFill>
                <a:latin typeface="Aptos"/>
              </a:rPr>
              <a:t>Problem: Voice-assistant codebases contain many agents and tools spread across thousands of files. The full repository cannot fit into an LLM context window.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12122B"/>
                </a:solidFill>
                <a:latin typeface="Aptos"/>
              </a:rPr>
              <a:t>Ariadne addresses the theme with: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1E1F30"/>
                </a:solidFill>
                <a:latin typeface="Aptos"/>
              </a:rPr>
              <a:t>• Plain-English search with exact file paths and line ranges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1E1F30"/>
                </a:solidFill>
                <a:latin typeface="Aptos"/>
              </a:rPr>
              <a:t>• AST structural queries for tool sequencing and caller tracing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1E1F30"/>
                </a:solidFill>
                <a:latin typeface="Aptos"/>
              </a:rPr>
              <a:t>• Usage/deeplink queries such as locating settings://bluetooth/connections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1E1F30"/>
                </a:solidFill>
                <a:latin typeface="Aptos"/>
              </a:rPr>
              <a:t>• Autonomous Plan → Search → Read → Refine loop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1E1F30"/>
                </a:solidFill>
                <a:latin typeface="Aptos"/>
              </a:rPr>
              <a:t>• Optimization advisor for complexity, async parallelization and token caching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1E1F30"/>
                </a:solidFill>
                <a:latin typeface="Aptos"/>
              </a:rPr>
              <a:t>• Pure CPU execution with sub-millisecond benchmark latency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t>Existing Solutions &amp; Gaps</a:t>
            </a:r>
          </a:p>
        </p:txBody>
      </p:sp>
      <p:sp>
        <p:nvSpPr>
          <p:cNvPr id="108" name="Google Shape;108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109" name="Rounded Rectangle 108"/>
          <p:cNvSpPr/>
          <p:nvPr/>
        </p:nvSpPr>
        <p:spPr>
          <a:xfrm>
            <a:off x="822960" y="1737360"/>
            <a:ext cx="457200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Rectangle 109"/>
          <p:cNvSpPr/>
          <p:nvPr/>
        </p:nvSpPr>
        <p:spPr>
          <a:xfrm>
            <a:off x="822960" y="1737360"/>
            <a:ext cx="64008" cy="1874519"/>
          </a:xfrm>
          <a:prstGeom prst="rect">
            <a:avLst/>
          </a:prstGeom>
          <a:solidFill>
            <a:srgbClr val="672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987552" y="1847088"/>
            <a:ext cx="431596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2122B"/>
                </a:solidFill>
                <a:latin typeface="Aptos"/>
              </a:rPr>
              <a:t>1. Naive LLM context dumping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987552" y="2240280"/>
            <a:ext cx="4315968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1E1F30"/>
                </a:solidFill>
                <a:latin typeface="Aptos"/>
              </a:rPr>
              <a:t>• Massive prompt cost and token truncation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1E1F30"/>
                </a:solidFill>
                <a:latin typeface="Aptos"/>
              </a:rPr>
              <a:t>• Weak reliability for exact line numbers and caller sequences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5623560" y="1737360"/>
            <a:ext cx="457200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Rectangle 113"/>
          <p:cNvSpPr/>
          <p:nvPr/>
        </p:nvSpPr>
        <p:spPr>
          <a:xfrm>
            <a:off x="5623560" y="1737360"/>
            <a:ext cx="64008" cy="1874519"/>
          </a:xfrm>
          <a:prstGeom prst="rect">
            <a:avLst/>
          </a:prstGeom>
          <a:solidFill>
            <a:srgbClr val="345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5788152" y="1847088"/>
            <a:ext cx="431596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2122B"/>
                </a:solidFill>
                <a:latin typeface="Aptos"/>
              </a:rPr>
              <a:t>2. Standard vector RAG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5788152" y="2240280"/>
            <a:ext cx="4315968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1E1F30"/>
                </a:solidFill>
                <a:latin typeface="Aptos"/>
              </a:rPr>
              <a:t>• Text chunking can break AST function boundaries and variable scopes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1E1F30"/>
                </a:solidFill>
                <a:latin typeface="Aptos"/>
              </a:rPr>
              <a:t>• Vectors do not directly answer sequential logic such as “A before B”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822960" y="3840480"/>
            <a:ext cx="457200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Rectangle 117"/>
          <p:cNvSpPr/>
          <p:nvPr/>
        </p:nvSpPr>
        <p:spPr>
          <a:xfrm>
            <a:off x="822960" y="3840480"/>
            <a:ext cx="64008" cy="1874519"/>
          </a:xfrm>
          <a:prstGeom prst="rect">
            <a:avLst/>
          </a:prstGeom>
          <a:solidFill>
            <a:srgbClr val="42A6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987552" y="3950208"/>
            <a:ext cx="431596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2122B"/>
                </a:solidFill>
                <a:latin typeface="Aptos"/>
              </a:rPr>
              <a:t>3. Generic cross-encoder reranking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987552" y="4343400"/>
            <a:ext cx="4315968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1E1F30"/>
                </a:solidFill>
                <a:latin typeface="Aptos"/>
              </a:rPr>
              <a:t>• Domain transfer hurts code retrieval quality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1E1F30"/>
                </a:solidFill>
                <a:latin typeface="Aptos"/>
              </a:rPr>
              <a:t>• Reported NDCG@10 drops from 0.7391 to 0.6119 and adds &gt;180 ms latency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5623560" y="3840480"/>
            <a:ext cx="457200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Rectangle 121"/>
          <p:cNvSpPr/>
          <p:nvPr/>
        </p:nvSpPr>
        <p:spPr>
          <a:xfrm>
            <a:off x="5623560" y="3840480"/>
            <a:ext cx="64008" cy="1874519"/>
          </a:xfrm>
          <a:prstGeom prst="rect">
            <a:avLst/>
          </a:prstGeom>
          <a:solidFill>
            <a:srgbClr val="672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5788152" y="3950208"/>
            <a:ext cx="431596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2122B"/>
                </a:solidFill>
                <a:latin typeface="Aptos"/>
              </a:rPr>
              <a:t>4. Full index rebuilds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5788152" y="4343400"/>
            <a:ext cx="4315968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1E1F30"/>
                </a:solidFill>
                <a:latin typeface="Aptos"/>
              </a:rPr>
              <a:t>• Traditional rebuilds reprocess the full codebase after commits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1E1F30"/>
                </a:solidFill>
                <a:latin typeface="Aptos"/>
              </a:rPr>
              <a:t>• Reported full rebuild cost is ~53 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"/>
          <p:cNvSpPr txBox="1">
            <a:spLocks noGrp="1"/>
          </p:cNvSpPr>
          <p:nvPr>
            <p:ph type="title"/>
          </p:nvPr>
        </p:nvSpPr>
        <p:spPr>
          <a:xfrm>
            <a:off x="909917" y="266513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IN" dirty="0"/>
              <a:t>Our Solutions &amp; Architecture Diagram</a:t>
            </a:r>
          </a:p>
        </p:txBody>
      </p:sp>
      <p:grpSp>
        <p:nvGrpSpPr>
          <p:cNvPr id="2" name="lane_offline_code_indexing"/>
          <p:cNvGrpSpPr/>
          <p:nvPr/>
        </p:nvGrpSpPr>
        <p:grpSpPr>
          <a:xfrm>
            <a:off x="838504" y="1826056"/>
            <a:ext cx="10515600" cy="1131424"/>
            <a:chOff x="838504" y="1826056"/>
            <a:chExt cx="10515600" cy="1131424"/>
          </a:xfrm>
        </p:grpSpPr>
        <p:sp>
          <p:nvSpPr>
            <p:cNvPr id="114" name="header_offline_accent_bar"/>
            <p:cNvSpPr/>
            <p:nvPr/>
          </p:nvSpPr>
          <p:spPr>
            <a:xfrm>
              <a:off x="838504" y="1826056"/>
              <a:ext cx="59436" cy="217581"/>
            </a:xfrm>
            <a:prstGeom prst="rect">
              <a:avLst/>
            </a:prstGeom>
            <a:solidFill>
              <a:srgbClr val="672DBE">
                <a:lumMod val="7000"/>
                <a:lumOff val="93000"/>
              </a:srgbClr>
            </a:solidFill>
            <a:ln w="127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5" name="header_offline"/>
            <p:cNvSpPr txBox="1"/>
            <p:nvPr/>
          </p:nvSpPr>
          <p:spPr>
            <a:xfrm>
              <a:off x="944758" y="1826056"/>
              <a:ext cx="10409346" cy="217581"/>
            </a:xfrm>
            <a:prstGeom prst="rect">
              <a:avLst/>
            </a:prstGeom>
            <a:noFill/>
          </p:spPr>
          <p:txBody>
            <a:bodyPr wrap="square" lIns="22860" rIns="22860" tIns="13716" bIns="13716" anchor="ctr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 b="1">
                  <a:solidFill>
                    <a:schemeClr val="dk1"/>
                  </a:solidFill>
                  <a:latin typeface="Aptos"/>
                </a:rPr>
                <a:t>OFFLINE — CODE INDEXING</a:t>
              </a:r>
            </a:p>
          </p:txBody>
        </p:sp>
        <p:sp>
          <p:nvSpPr>
            <p:cNvPr id="116" name="node_repo_commit"/>
            <p:cNvSpPr/>
            <p:nvPr/>
          </p:nvSpPr>
          <p:spPr>
            <a:xfrm>
              <a:off x="838504" y="2174187"/>
              <a:ext cx="1218438" cy="783293"/>
            </a:xfrm>
            <a:prstGeom prst="rect">
              <a:avLst/>
            </a:prstGeom>
            <a:solidFill>
              <a:srgbClr val="63637E">
                <a:lumMod val="7000"/>
                <a:lumOff val="93000"/>
              </a:srgbClr>
            </a:solidFill>
            <a:ln w="12700">
              <a:solidFill>
                <a:srgbClr val="63637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41148" rIns="41148" tIns="13716" bIns="13716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1">
                  <a:solidFill>
                    <a:schemeClr val="dk1"/>
                  </a:solidFill>
                  <a:latin typeface="Aptos"/>
                </a:rPr>
                <a:t>Repo / commit</a:t>
              </a:r>
            </a:p>
          </p:txBody>
        </p:sp>
        <p:sp>
          <p:nvSpPr>
            <p:cNvPr id="117" name="node_tree_sitter_ast"/>
            <p:cNvSpPr/>
            <p:nvPr/>
          </p:nvSpPr>
          <p:spPr>
            <a:xfrm>
              <a:off x="2388031" y="2174187"/>
              <a:ext cx="1218438" cy="783293"/>
            </a:xfrm>
            <a:prstGeom prst="rect">
              <a:avLst/>
            </a:prstGeom>
            <a:solidFill>
              <a:srgbClr val="42A6A4">
                <a:lumMod val="7000"/>
                <a:lumOff val="93000"/>
              </a:srgbClr>
            </a:solidFill>
            <a:ln w="12700">
              <a:solidFill>
                <a:srgbClr val="42A6A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41148" rIns="41148" tIns="13716" bIns="13716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1">
                  <a:solidFill>
                    <a:schemeClr val="dk1"/>
                  </a:solidFill>
                  <a:latin typeface="Aptos"/>
                </a:rPr>
                <a:t>Tree-Sitter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1">
                  <a:solidFill>
                    <a:schemeClr val="dk1"/>
                  </a:solidFill>
                  <a:latin typeface="Aptos"/>
                </a:rPr>
                <a:t>AST</a:t>
              </a:r>
            </a:p>
          </p:txBody>
        </p:sp>
        <p:sp>
          <p:nvSpPr>
            <p:cNvPr id="118" name="node_function_chunks"/>
            <p:cNvSpPr/>
            <p:nvPr/>
          </p:nvSpPr>
          <p:spPr>
            <a:xfrm>
              <a:off x="3937558" y="2174187"/>
              <a:ext cx="1218438" cy="783293"/>
            </a:xfrm>
            <a:prstGeom prst="rect">
              <a:avLst/>
            </a:prstGeom>
            <a:solidFill>
              <a:srgbClr val="63637E">
                <a:lumMod val="7000"/>
                <a:lumOff val="93000"/>
              </a:srgbClr>
            </a:solidFill>
            <a:ln w="12700">
              <a:solidFill>
                <a:srgbClr val="63637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41148" rIns="41148" tIns="13716" bIns="13716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1">
                  <a:solidFill>
                    <a:schemeClr val="dk1"/>
                  </a:solidFill>
                  <a:latin typeface="Aptos"/>
                </a:rPr>
                <a:t>Function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1">
                  <a:solidFill>
                    <a:schemeClr val="dk1"/>
                  </a:solidFill>
                  <a:latin typeface="Aptos"/>
                </a:rPr>
                <a:t>chunks</a:t>
              </a:r>
            </a:p>
          </p:txBody>
        </p:sp>
        <p:sp>
          <p:nvSpPr>
            <p:cNvPr id="119" name="node_sha256_diff"/>
            <p:cNvSpPr/>
            <p:nvPr/>
          </p:nvSpPr>
          <p:spPr>
            <a:xfrm>
              <a:off x="5487085" y="2174187"/>
              <a:ext cx="1439799" cy="783293"/>
            </a:xfrm>
            <a:prstGeom prst="rect">
              <a:avLst/>
            </a:prstGeom>
            <a:solidFill>
              <a:srgbClr val="63637E">
                <a:lumMod val="7000"/>
                <a:lumOff val="93000"/>
              </a:srgbClr>
            </a:solidFill>
            <a:ln w="12700">
              <a:solidFill>
                <a:srgbClr val="63637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41148" rIns="41148" tIns="13716" bIns="13716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1">
                  <a:solidFill>
                    <a:schemeClr val="dk1"/>
                  </a:solidFill>
                  <a:latin typeface="Aptos"/>
                </a:rPr>
                <a:t>SHA-256 diff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0">
                  <a:solidFill>
                    <a:schemeClr val="dk1"/>
                  </a:solidFill>
                  <a:latin typeface="Aptos"/>
                </a:rPr>
                <a:t>Incremental update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>
                  <a:solidFill>
                    <a:schemeClr val="dk1"/>
                  </a:solidFill>
                  <a:latin typeface="Consolas"/>
                </a:rPr>
                <a:t>incremental_index.py</a:t>
              </a:r>
            </a:p>
          </p:txBody>
        </p:sp>
        <p:sp>
          <p:nvSpPr>
            <p:cNvPr id="120" name="node_index_outputs"/>
            <p:cNvSpPr/>
            <p:nvPr/>
          </p:nvSpPr>
          <p:spPr>
            <a:xfrm>
              <a:off x="7257973" y="2174187"/>
              <a:ext cx="4096131" cy="783293"/>
            </a:xfrm>
            <a:prstGeom prst="rect">
              <a:avLst/>
            </a:prstGeom>
            <a:solidFill>
              <a:srgbClr val="63637E">
                <a:lumMod val="7000"/>
                <a:lumOff val="93000"/>
              </a:srgbClr>
            </a:solidFill>
            <a:ln w="12700">
              <a:solidFill>
                <a:srgbClr val="63637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41148" rIns="41148" tIns="13716" bIns="13716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chemeClr val="dk1"/>
                  </a:solidFill>
                  <a:latin typeface="Aptos"/>
                </a:rPr>
                <a:t>Dense index  |  Sparse index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chemeClr val="dk1"/>
                  </a:solidFill>
                  <a:latin typeface="Aptos"/>
                </a:rPr>
                <a:t>Call graph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0">
                  <a:solidFill>
                    <a:schemeClr val="dk1"/>
                  </a:solidFill>
                  <a:latin typeface="Aptos"/>
                </a:rPr>
                <a:t>Re-use unchanged embeddings</a:t>
              </a:r>
            </a:p>
          </p:txBody>
        </p:sp>
        <p:cxnSp>
          <p:nvCxnSpPr>
            <p:cNvPr id="121" name="offline_node_repo_commit_node_tree_sitter_ast_segment_0"/>
            <p:cNvCxnSpPr>
              <a:stCxn id="116" idx="3"/>
              <a:endCxn id="117" idx="1"/>
            </p:cNvCxnSpPr>
            <p:nvPr/>
          </p:nvCxnSpPr>
          <p:spPr>
            <a:xfrm>
              <a:off x="2056942" y="2565833"/>
              <a:ext cx="331089" cy="0"/>
            </a:xfrm>
            <a:prstGeom prst="line">
              <a:avLst/>
            </a:prstGeom>
            <a:ln w="12700">
              <a:solidFill>
                <a:srgbClr val="63637E"/>
              </a:solidFill>
              <a:tailEnd type="triangle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offline_node_tree_sitter_ast_node_function_chunks_segment_0"/>
            <p:cNvCxnSpPr>
              <a:stCxn id="117" idx="3"/>
              <a:endCxn id="118" idx="1"/>
            </p:cNvCxnSpPr>
            <p:nvPr/>
          </p:nvCxnSpPr>
          <p:spPr>
            <a:xfrm>
              <a:off x="3606469" y="2565833"/>
              <a:ext cx="331089" cy="0"/>
            </a:xfrm>
            <a:prstGeom prst="line">
              <a:avLst/>
            </a:prstGeom>
            <a:ln w="12700">
              <a:solidFill>
                <a:srgbClr val="63637E"/>
              </a:solidFill>
              <a:tailEnd type="triangle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offline_node_function_chunks_node_sha256_diff_segment_0"/>
            <p:cNvCxnSpPr>
              <a:stCxn id="118" idx="3"/>
              <a:endCxn id="119" idx="1"/>
            </p:cNvCxnSpPr>
            <p:nvPr/>
          </p:nvCxnSpPr>
          <p:spPr>
            <a:xfrm>
              <a:off x="5155996" y="2565833"/>
              <a:ext cx="331089" cy="0"/>
            </a:xfrm>
            <a:prstGeom prst="line">
              <a:avLst/>
            </a:prstGeom>
            <a:ln w="12700">
              <a:solidFill>
                <a:srgbClr val="63637E"/>
              </a:solidFill>
              <a:tailEnd type="triangle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offline_node_sha256_diff_node_index_outputs_segment_0"/>
            <p:cNvCxnSpPr>
              <a:stCxn id="119" idx="3"/>
              <a:endCxn id="120" idx="1"/>
            </p:cNvCxnSpPr>
            <p:nvPr/>
          </p:nvCxnSpPr>
          <p:spPr>
            <a:xfrm>
              <a:off x="6926884" y="2565833"/>
              <a:ext cx="331089" cy="0"/>
            </a:xfrm>
            <a:prstGeom prst="line">
              <a:avLst/>
            </a:prstGeom>
            <a:ln w="12700">
              <a:solidFill>
                <a:srgbClr val="63637E"/>
              </a:solidFill>
              <a:tailEnd type="triangle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lane_online_query_execution"/>
          <p:cNvGrpSpPr/>
          <p:nvPr/>
        </p:nvGrpSpPr>
        <p:grpSpPr>
          <a:xfrm>
            <a:off x="838504" y="3088029"/>
            <a:ext cx="10515600" cy="2741526"/>
            <a:chOff x="838504" y="3088029"/>
            <a:chExt cx="10515600" cy="2741526"/>
          </a:xfrm>
        </p:grpSpPr>
        <p:sp>
          <p:nvSpPr>
            <p:cNvPr id="125" name="header_online_accent_bar"/>
            <p:cNvSpPr/>
            <p:nvPr/>
          </p:nvSpPr>
          <p:spPr>
            <a:xfrm>
              <a:off x="838504" y="3088029"/>
              <a:ext cx="59436" cy="217581"/>
            </a:xfrm>
            <a:prstGeom prst="rect">
              <a:avLst/>
            </a:prstGeom>
            <a:solidFill>
              <a:srgbClr val="345BD2">
                <a:lumMod val="7000"/>
                <a:lumOff val="93000"/>
              </a:srgbClr>
            </a:solidFill>
            <a:ln w="127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6" name="header_online"/>
            <p:cNvSpPr txBox="1"/>
            <p:nvPr/>
          </p:nvSpPr>
          <p:spPr>
            <a:xfrm>
              <a:off x="944758" y="3088029"/>
              <a:ext cx="10409346" cy="217581"/>
            </a:xfrm>
            <a:prstGeom prst="rect">
              <a:avLst/>
            </a:prstGeom>
            <a:noFill/>
          </p:spPr>
          <p:txBody>
            <a:bodyPr wrap="square" lIns="22860" rIns="22860" tIns="13716" bIns="13716" anchor="ctr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 b="1">
                  <a:solidFill>
                    <a:schemeClr val="dk1"/>
                  </a:solidFill>
                  <a:latin typeface="Aptos"/>
                </a:rPr>
                <a:t>ONLINE — QUERY EXECUTION</a:t>
              </a:r>
            </a:p>
          </p:txBody>
        </p:sp>
        <p:sp>
          <p:nvSpPr>
            <p:cNvPr id="127" name="node_query"/>
            <p:cNvSpPr/>
            <p:nvPr/>
          </p:nvSpPr>
          <p:spPr>
            <a:xfrm>
              <a:off x="838504" y="3436159"/>
              <a:ext cx="1351254" cy="522195"/>
            </a:xfrm>
            <a:prstGeom prst="rect">
              <a:avLst/>
            </a:prstGeom>
            <a:solidFill>
              <a:srgbClr val="672DBE">
                <a:lumMod val="7000"/>
                <a:lumOff val="93000"/>
              </a:srgbClr>
            </a:solidFill>
            <a:ln w="12700">
              <a:solidFill>
                <a:srgbClr val="672D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41148" rIns="41148" tIns="13716" bIns="13716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1">
                  <a:solidFill>
                    <a:schemeClr val="dk1"/>
                  </a:solidFill>
                  <a:latin typeface="Aptos"/>
                </a:rPr>
                <a:t>User query</a:t>
              </a:r>
            </a:p>
          </p:txBody>
        </p:sp>
        <p:sp>
          <p:nvSpPr>
            <p:cNvPr id="128" name="node_intent"/>
            <p:cNvSpPr/>
            <p:nvPr/>
          </p:nvSpPr>
          <p:spPr>
            <a:xfrm>
              <a:off x="838504" y="4262969"/>
              <a:ext cx="1351254" cy="522195"/>
            </a:xfrm>
            <a:prstGeom prst="rect">
              <a:avLst/>
            </a:prstGeom>
            <a:solidFill>
              <a:srgbClr val="672DBE">
                <a:lumMod val="7000"/>
                <a:lumOff val="93000"/>
              </a:srgbClr>
            </a:solidFill>
            <a:ln w="12700">
              <a:solidFill>
                <a:srgbClr val="672D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41148" rIns="41148" tIns="13716" bIns="13716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1">
                  <a:solidFill>
                    <a:schemeClr val="dk1"/>
                  </a:solidFill>
                  <a:latin typeface="Aptos"/>
                </a:rPr>
                <a:t>Intent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>
                  <a:solidFill>
                    <a:schemeClr val="dk1"/>
                  </a:solidFill>
                  <a:latin typeface="Consolas"/>
                </a:rPr>
                <a:t>intent.py</a:t>
              </a:r>
            </a:p>
          </p:txBody>
        </p:sp>
        <p:sp>
          <p:nvSpPr>
            <p:cNvPr id="129" name="node_dense"/>
            <p:cNvSpPr/>
            <p:nvPr/>
          </p:nvSpPr>
          <p:spPr>
            <a:xfrm>
              <a:off x="2609392" y="3436159"/>
              <a:ext cx="1661159" cy="652744"/>
            </a:xfrm>
            <a:prstGeom prst="rect">
              <a:avLst/>
            </a:prstGeom>
            <a:solidFill>
              <a:srgbClr val="345BD2">
                <a:lumMod val="7000"/>
                <a:lumOff val="93000"/>
              </a:srgbClr>
            </a:solidFill>
            <a:ln w="12700">
              <a:solidFill>
                <a:srgbClr val="345BD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41148" rIns="41148" tIns="13716" bIns="13716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1">
                  <a:solidFill>
                    <a:schemeClr val="dk1"/>
                  </a:solidFill>
                  <a:latin typeface="Aptos"/>
                </a:rPr>
                <a:t>Dense semantic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0">
                  <a:solidFill>
                    <a:schemeClr val="dk1"/>
                  </a:solidFill>
                  <a:latin typeface="Aptos"/>
                </a:rPr>
                <a:t>all-MiniLM-L6-v2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0">
                  <a:solidFill>
                    <a:schemeClr val="dk1"/>
                  </a:solidFill>
                  <a:latin typeface="Aptos"/>
                </a:rPr>
                <a:t>384-d</a:t>
              </a:r>
            </a:p>
          </p:txBody>
        </p:sp>
        <p:sp>
          <p:nvSpPr>
            <p:cNvPr id="130" name="node_sparse"/>
            <p:cNvSpPr/>
            <p:nvPr/>
          </p:nvSpPr>
          <p:spPr>
            <a:xfrm>
              <a:off x="2609392" y="4350001"/>
              <a:ext cx="1661159" cy="652744"/>
            </a:xfrm>
            <a:prstGeom prst="rect">
              <a:avLst/>
            </a:prstGeom>
            <a:solidFill>
              <a:srgbClr val="63637E">
                <a:lumMod val="7000"/>
                <a:lumOff val="93000"/>
              </a:srgbClr>
            </a:solidFill>
            <a:ln w="12700">
              <a:solidFill>
                <a:srgbClr val="63637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41148" rIns="41148" tIns="13716" bIns="13716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1">
                  <a:solidFill>
                    <a:schemeClr val="dk1"/>
                  </a:solidFill>
                  <a:latin typeface="Aptos"/>
                </a:rPr>
                <a:t>Sparse BM25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0">
                  <a:solidFill>
                    <a:schemeClr val="dk1"/>
                  </a:solidFill>
                  <a:latin typeface="Aptos"/>
                </a:rPr>
                <a:t>Lexical retrieval</a:t>
              </a:r>
            </a:p>
          </p:txBody>
        </p:sp>
        <p:sp>
          <p:nvSpPr>
            <p:cNvPr id="131" name="diamond_router"/>
            <p:cNvSpPr/>
            <p:nvPr/>
          </p:nvSpPr>
          <p:spPr>
            <a:xfrm>
              <a:off x="4911547" y="3349127"/>
              <a:ext cx="1749704" cy="1044391"/>
            </a:xfrm>
            <a:prstGeom prst="diamond">
              <a:avLst/>
            </a:prstGeom>
            <a:solidFill>
              <a:srgbClr val="672DBE">
                <a:lumMod val="7000"/>
                <a:lumOff val="93000"/>
              </a:srgbClr>
            </a:solidFill>
            <a:ln w="12700">
              <a:solidFill>
                <a:srgbClr val="672D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41148" rIns="41148" tIns="13716" bIns="13716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1">
                  <a:solidFill>
                    <a:schemeClr val="dk1"/>
                  </a:solidFill>
                  <a:latin typeface="Aptos"/>
                </a:rPr>
                <a:t>Δ ≥ 0.08?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0">
                  <a:solidFill>
                    <a:schemeClr val="dk1"/>
                  </a:solidFill>
                  <a:latin typeface="Aptos"/>
                </a:rPr>
                <a:t>Δ = s₁ − s₂</a:t>
              </a:r>
            </a:p>
          </p:txBody>
        </p:sp>
        <p:sp>
          <p:nvSpPr>
            <p:cNvPr id="132" name="node_cross_encoder"/>
            <p:cNvSpPr/>
            <p:nvPr/>
          </p:nvSpPr>
          <p:spPr>
            <a:xfrm>
              <a:off x="7036612" y="4088904"/>
              <a:ext cx="2103882" cy="522195"/>
            </a:xfrm>
            <a:prstGeom prst="rect">
              <a:avLst/>
            </a:prstGeom>
            <a:solidFill>
              <a:srgbClr val="672DBE">
                <a:lumMod val="7000"/>
                <a:lumOff val="93000"/>
              </a:srgbClr>
            </a:solidFill>
            <a:ln w="12700">
              <a:solidFill>
                <a:srgbClr val="672D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41148" rIns="41148" tIns="13716" bIns="13716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1">
                  <a:solidFill>
                    <a:schemeClr val="dk1"/>
                  </a:solidFill>
                  <a:latin typeface="Aptos"/>
                </a:rPr>
                <a:t>Cross-encoder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>
                  <a:solidFill>
                    <a:schemeClr val="dk1"/>
                  </a:solidFill>
                  <a:latin typeface="Consolas"/>
                </a:rPr>
                <a:t>cross_encoder.py</a:t>
              </a:r>
            </a:p>
          </p:txBody>
        </p:sp>
        <p:sp>
          <p:nvSpPr>
            <p:cNvPr id="133" name="node_fusion"/>
            <p:cNvSpPr/>
            <p:nvPr/>
          </p:nvSpPr>
          <p:spPr>
            <a:xfrm>
              <a:off x="4911547" y="4567583"/>
              <a:ext cx="1616887" cy="522195"/>
            </a:xfrm>
            <a:prstGeom prst="rect">
              <a:avLst/>
            </a:prstGeom>
            <a:solidFill>
              <a:srgbClr val="63637E">
                <a:lumMod val="7000"/>
                <a:lumOff val="93000"/>
              </a:srgbClr>
            </a:solidFill>
            <a:ln w="12700">
              <a:solidFill>
                <a:srgbClr val="63637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41148" rIns="41148" tIns="13716" bIns="13716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1">
                  <a:solidFill>
                    <a:schemeClr val="dk1"/>
                  </a:solidFill>
                  <a:latin typeface="Aptos"/>
                </a:rPr>
                <a:t>Hybrid RRF k=20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>
                  <a:solidFill>
                    <a:schemeClr val="dk1"/>
                  </a:solidFill>
                  <a:latin typeface="Consolas"/>
                </a:rPr>
                <a:t>fusion.py</a:t>
              </a:r>
            </a:p>
          </p:txBody>
        </p:sp>
        <p:sp>
          <p:nvSpPr>
            <p:cNvPr id="134" name="node_ranked_snippets"/>
            <p:cNvSpPr/>
            <p:nvPr/>
          </p:nvSpPr>
          <p:spPr>
            <a:xfrm>
              <a:off x="9692944" y="3392643"/>
              <a:ext cx="1661159" cy="2436912"/>
            </a:xfrm>
            <a:prstGeom prst="rect">
              <a:avLst/>
            </a:prstGeom>
            <a:solidFill>
              <a:srgbClr val="63637E">
                <a:lumMod val="7000"/>
                <a:lumOff val="93000"/>
              </a:srgbClr>
            </a:solidFill>
            <a:ln w="12700">
              <a:solidFill>
                <a:srgbClr val="63637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41148" rIns="41148" tIns="13716" bIns="13716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chemeClr val="dk1"/>
                  </a:solidFill>
                  <a:latin typeface="Aptos"/>
                </a:rPr>
                <a:t>Ranked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chemeClr val="dk1"/>
                  </a:solidFill>
                  <a:latin typeface="Aptos"/>
                </a:rPr>
                <a:t>snippets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0">
                  <a:solidFill>
                    <a:schemeClr val="dk1"/>
                  </a:solidFill>
                  <a:latin typeface="Aptos"/>
                </a:rPr>
                <a:t>File + lines</a:t>
              </a:r>
            </a:p>
          </p:txBody>
        </p:sp>
        <p:sp>
          <p:nvSpPr>
            <p:cNvPr id="135" name="badge_fast_path"/>
            <p:cNvSpPr txBox="1"/>
            <p:nvPr/>
          </p:nvSpPr>
          <p:spPr>
            <a:xfrm>
              <a:off x="7036612" y="3392643"/>
              <a:ext cx="2103882" cy="348130"/>
            </a:xfrm>
            <a:prstGeom prst="rect">
              <a:avLst/>
            </a:prstGeom>
            <a:noFill/>
          </p:spPr>
          <p:txBody>
            <a:bodyPr wrap="square" lIns="22860" rIns="22860" tIns="13716" bIns="13716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0" b="1">
                  <a:solidFill>
                    <a:srgbClr val="672DBE"/>
                  </a:solidFill>
                  <a:latin typeface="Aptos"/>
                </a:rPr>
                <a:t>58% fast-path</a:t>
              </a:r>
            </a:p>
          </p:txBody>
        </p:sp>
        <p:sp>
          <p:nvSpPr>
            <p:cNvPr id="136" name="badge_scope"/>
            <p:cNvSpPr txBox="1"/>
            <p:nvPr/>
          </p:nvSpPr>
          <p:spPr>
            <a:xfrm>
              <a:off x="7036612" y="3740773"/>
              <a:ext cx="2103882" cy="348130"/>
            </a:xfrm>
            <a:prstGeom prst="rect">
              <a:avLst/>
            </a:prstGeom>
            <a:noFill/>
          </p:spPr>
          <p:txBody>
            <a:bodyPr wrap="square" lIns="22860" rIns="22860" tIns="13716" bIns="13716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0">
                  <a:solidFill>
                    <a:schemeClr val="dk1"/>
                  </a:solidFill>
                  <a:latin typeface="Aptos"/>
                </a:rPr>
                <a:t>50-query dense validation</a:t>
              </a:r>
            </a:p>
          </p:txBody>
        </p:sp>
        <p:sp>
          <p:nvSpPr>
            <p:cNvPr id="137" name="label_yes"/>
            <p:cNvSpPr txBox="1"/>
            <p:nvPr/>
          </p:nvSpPr>
          <p:spPr>
            <a:xfrm>
              <a:off x="6372529" y="3392643"/>
              <a:ext cx="510082" cy="174065"/>
            </a:xfrm>
            <a:prstGeom prst="rect">
              <a:avLst/>
            </a:prstGeom>
            <a:noFill/>
          </p:spPr>
          <p:txBody>
            <a:bodyPr wrap="square" lIns="22860" rIns="22860" tIns="13716" bIns="13716" anchor="ctr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672DBE"/>
                  </a:solidFill>
                  <a:latin typeface="Aptos"/>
                </a:rPr>
                <a:t>YES</a:t>
              </a:r>
            </a:p>
          </p:txBody>
        </p:sp>
        <p:sp>
          <p:nvSpPr>
            <p:cNvPr id="138" name="label_no"/>
            <p:cNvSpPr txBox="1"/>
            <p:nvPr/>
          </p:nvSpPr>
          <p:spPr>
            <a:xfrm>
              <a:off x="6505346" y="4262969"/>
              <a:ext cx="421538" cy="174065"/>
            </a:xfrm>
            <a:prstGeom prst="rect">
              <a:avLst/>
            </a:prstGeom>
            <a:noFill/>
          </p:spPr>
          <p:txBody>
            <a:bodyPr wrap="square" lIns="22860" rIns="22860" tIns="13716" bIns="13716" anchor="ctr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672DBE"/>
                  </a:solidFill>
                  <a:latin typeface="Aptos"/>
                </a:rPr>
                <a:t>NO</a:t>
              </a:r>
            </a:p>
          </p:txBody>
        </p:sp>
        <p:sp>
          <p:nvSpPr>
            <p:cNvPr id="139" name="label_cascade_file"/>
            <p:cNvSpPr txBox="1"/>
            <p:nvPr/>
          </p:nvSpPr>
          <p:spPr>
            <a:xfrm>
              <a:off x="4823002" y="3175061"/>
              <a:ext cx="2015337" cy="174065"/>
            </a:xfrm>
            <a:prstGeom prst="rect">
              <a:avLst/>
            </a:prstGeom>
            <a:noFill/>
          </p:spPr>
          <p:txBody>
            <a:bodyPr wrap="square" lIns="22860" rIns="22860" tIns="13716" bIns="13716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>
                  <a:solidFill>
                    <a:schemeClr val="dk1"/>
                  </a:solidFill>
                  <a:latin typeface="Consolas"/>
                </a:rPr>
                <a:t>cascade_router.py</a:t>
              </a:r>
            </a:p>
          </p:txBody>
        </p:sp>
        <p:sp>
          <p:nvSpPr>
            <p:cNvPr id="140" name="label_calibration"/>
            <p:cNvSpPr txBox="1"/>
            <p:nvPr/>
          </p:nvSpPr>
          <p:spPr>
            <a:xfrm>
              <a:off x="7036612" y="4632857"/>
              <a:ext cx="2103882" cy="174065"/>
            </a:xfrm>
            <a:prstGeom prst="rect">
              <a:avLst/>
            </a:prstGeom>
            <a:noFill/>
          </p:spPr>
          <p:txBody>
            <a:bodyPr wrap="square" lIns="22860" rIns="22860" tIns="13716" bIns="13716" anchor="ctr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chemeClr val="dk1"/>
                  </a:solidFill>
                  <a:latin typeface="Aptos"/>
                </a:rPr>
                <a:t>Calibration (Config C/D)</a:t>
              </a:r>
            </a:p>
          </p:txBody>
        </p:sp>
        <p:sp>
          <p:nvSpPr>
            <p:cNvPr id="141" name="label_ast_header"/>
            <p:cNvSpPr txBox="1"/>
            <p:nvPr/>
          </p:nvSpPr>
          <p:spPr>
            <a:xfrm>
              <a:off x="2609392" y="5024504"/>
              <a:ext cx="3741953" cy="195823"/>
            </a:xfrm>
            <a:prstGeom prst="rect">
              <a:avLst/>
            </a:prstGeom>
            <a:noFill/>
          </p:spPr>
          <p:txBody>
            <a:bodyPr wrap="square" lIns="22860" rIns="22860" tIns="13716" bIns="13716" anchor="ctr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1">
                  <a:solidFill>
                    <a:schemeClr val="dk1"/>
                  </a:solidFill>
                  <a:latin typeface="Aptos"/>
                </a:rPr>
                <a:t>AST Call Graph · ordered-call trace</a:t>
              </a:r>
            </a:p>
          </p:txBody>
        </p:sp>
        <p:sp>
          <p:nvSpPr>
            <p:cNvPr id="142" name="label_graph_capabilities"/>
            <p:cNvSpPr txBox="1"/>
            <p:nvPr/>
          </p:nvSpPr>
          <p:spPr>
            <a:xfrm>
              <a:off x="6726707" y="5024504"/>
              <a:ext cx="2546604" cy="195823"/>
            </a:xfrm>
            <a:prstGeom prst="rect">
              <a:avLst/>
            </a:prstGeom>
            <a:noFill/>
          </p:spPr>
          <p:txBody>
            <a:bodyPr wrap="square" lIns="22860" rIns="22860" tIns="13716" bIns="13716" anchor="ctr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0">
                  <a:solidFill>
                    <a:schemeClr val="dk1"/>
                  </a:solidFill>
                  <a:latin typeface="Aptos"/>
                </a:rPr>
                <a:t>BFS / PageRank capabilities</a:t>
              </a:r>
            </a:p>
          </p:txBody>
        </p:sp>
        <p:sp>
          <p:nvSpPr>
            <p:cNvPr id="143" name="node_example_caller"/>
            <p:cNvSpPr/>
            <p:nvPr/>
          </p:nvSpPr>
          <p:spPr>
            <a:xfrm>
              <a:off x="2609392" y="5394393"/>
              <a:ext cx="1749704" cy="435162"/>
            </a:xfrm>
            <a:prstGeom prst="rect">
              <a:avLst/>
            </a:prstGeom>
            <a:solidFill>
              <a:srgbClr val="42A6A4">
                <a:lumMod val="7000"/>
                <a:lumOff val="93000"/>
              </a:srgbClr>
            </a:solidFill>
            <a:ln w="12700">
              <a:solidFill>
                <a:srgbClr val="42A6A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41148" rIns="41148" tIns="13716" bIns="13716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1">
                  <a:solidFill>
                    <a:schemeClr val="dk1"/>
                  </a:solidFill>
                  <a:latin typeface="Aptos"/>
                </a:rPr>
                <a:t>openBluetooth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1">
                  <a:solidFill>
                    <a:schemeClr val="dk1"/>
                  </a:solidFill>
                  <a:latin typeface="Aptos"/>
                </a:rPr>
                <a:t>Settings()</a:t>
              </a:r>
            </a:p>
          </p:txBody>
        </p:sp>
        <p:sp>
          <p:nvSpPr>
            <p:cNvPr id="144" name="node_example_auth"/>
            <p:cNvSpPr/>
            <p:nvPr/>
          </p:nvSpPr>
          <p:spPr>
            <a:xfrm>
              <a:off x="4823002" y="5394393"/>
              <a:ext cx="1749704" cy="435162"/>
            </a:xfrm>
            <a:prstGeom prst="rect">
              <a:avLst/>
            </a:prstGeom>
            <a:solidFill>
              <a:srgbClr val="42A6A4">
                <a:lumMod val="7000"/>
                <a:lumOff val="93000"/>
              </a:srgbClr>
            </a:solidFill>
            <a:ln w="12700">
              <a:solidFill>
                <a:srgbClr val="42A6A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41148" rIns="41148" tIns="13716" bIns="13716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1">
                  <a:solidFill>
                    <a:schemeClr val="dk1"/>
                  </a:solidFill>
                  <a:latin typeface="Aptos"/>
                </a:rPr>
                <a:t>1 · authTool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1">
                  <a:solidFill>
                    <a:schemeClr val="dk1"/>
                  </a:solidFill>
                  <a:latin typeface="Aptos"/>
                </a:rPr>
                <a:t>verifySession()</a:t>
              </a:r>
            </a:p>
          </p:txBody>
        </p:sp>
        <p:sp>
          <p:nvSpPr>
            <p:cNvPr id="145" name="node_example_bluetooth"/>
            <p:cNvSpPr/>
            <p:nvPr/>
          </p:nvSpPr>
          <p:spPr>
            <a:xfrm>
              <a:off x="7036612" y="5394393"/>
              <a:ext cx="2103882" cy="435162"/>
            </a:xfrm>
            <a:prstGeom prst="rect">
              <a:avLst/>
            </a:prstGeom>
            <a:solidFill>
              <a:srgbClr val="42A6A4">
                <a:lumMod val="7000"/>
                <a:lumOff val="93000"/>
              </a:srgbClr>
            </a:solidFill>
            <a:ln w="12700">
              <a:solidFill>
                <a:srgbClr val="42A6A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41148" rIns="41148" tIns="13716" bIns="13716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1">
                  <a:solidFill>
                    <a:schemeClr val="dk1"/>
                  </a:solidFill>
                  <a:latin typeface="Aptos"/>
                </a:rPr>
                <a:t>2 · bluetoothTool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1">
                  <a:solidFill>
                    <a:schemeClr val="dk1"/>
                  </a:solidFill>
                  <a:latin typeface="Aptos"/>
                </a:rPr>
                <a:t>navigateToDeeplink()</a:t>
              </a:r>
            </a:p>
          </p:txBody>
        </p:sp>
        <p:cxnSp>
          <p:nvCxnSpPr>
            <p:cNvPr id="146" name="query_to_intent_segment_0"/>
            <p:cNvCxnSpPr>
              <a:stCxn id="127" idx="2"/>
              <a:endCxn id="128" idx="0"/>
            </p:cNvCxnSpPr>
            <p:nvPr/>
          </p:nvCxnSpPr>
          <p:spPr>
            <a:xfrm>
              <a:off x="1514131" y="3958354"/>
              <a:ext cx="0" cy="304615"/>
            </a:xfrm>
            <a:prstGeom prst="line">
              <a:avLst/>
            </a:prstGeom>
            <a:ln w="12700">
              <a:solidFill>
                <a:srgbClr val="672DBE"/>
              </a:solidFill>
              <a:tailEnd type="triangle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7" name="anchor_intent_to_dense_0"/>
            <p:cNvSpPr/>
            <p:nvPr/>
          </p:nvSpPr>
          <p:spPr>
            <a:xfrm>
              <a:off x="2431846" y="4523609"/>
              <a:ext cx="914" cy="914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8" name="anchor_intent_to_dense_1"/>
            <p:cNvSpPr/>
            <p:nvPr/>
          </p:nvSpPr>
          <p:spPr>
            <a:xfrm>
              <a:off x="2431846" y="3762073"/>
              <a:ext cx="914" cy="914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149" name="intent_to_dense_segment_0"/>
            <p:cNvCxnSpPr>
              <a:stCxn id="128" idx="3"/>
              <a:endCxn id="147" idx="0"/>
            </p:cNvCxnSpPr>
            <p:nvPr/>
          </p:nvCxnSpPr>
          <p:spPr>
            <a:xfrm flipV="1">
              <a:off x="2189758" y="4523609"/>
              <a:ext cx="242545" cy="457"/>
            </a:xfrm>
            <a:prstGeom prst="line">
              <a:avLst/>
            </a:prstGeom>
            <a:ln w="12700">
              <a:solidFill>
                <a:srgbClr val="672DBE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intent_to_dense_segment_1"/>
            <p:cNvCxnSpPr>
              <a:stCxn id="147" idx="0"/>
              <a:endCxn id="148" idx="0"/>
            </p:cNvCxnSpPr>
            <p:nvPr/>
          </p:nvCxnSpPr>
          <p:spPr>
            <a:xfrm flipV="1">
              <a:off x="2432303" y="3762073"/>
              <a:ext cx="0" cy="761536"/>
            </a:xfrm>
            <a:prstGeom prst="line">
              <a:avLst/>
            </a:prstGeom>
            <a:ln w="12700">
              <a:solidFill>
                <a:srgbClr val="672DBE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intent_to_dense_segment_2"/>
            <p:cNvCxnSpPr>
              <a:stCxn id="148" idx="0"/>
              <a:endCxn id="129" idx="1"/>
            </p:cNvCxnSpPr>
            <p:nvPr/>
          </p:nvCxnSpPr>
          <p:spPr>
            <a:xfrm>
              <a:off x="2432303" y="3762073"/>
              <a:ext cx="177089" cy="458"/>
            </a:xfrm>
            <a:prstGeom prst="line">
              <a:avLst/>
            </a:prstGeom>
            <a:ln w="12700">
              <a:solidFill>
                <a:srgbClr val="672DBE"/>
              </a:solidFill>
              <a:tailEnd type="triangle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2" name="anchor_intent_to_sparse_0"/>
            <p:cNvSpPr/>
            <p:nvPr/>
          </p:nvSpPr>
          <p:spPr>
            <a:xfrm>
              <a:off x="2431846" y="4523609"/>
              <a:ext cx="914" cy="914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3" name="anchor_intent_to_sparse_1"/>
            <p:cNvSpPr/>
            <p:nvPr/>
          </p:nvSpPr>
          <p:spPr>
            <a:xfrm>
              <a:off x="2431846" y="4675915"/>
              <a:ext cx="914" cy="914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154" name="intent_to_sparse_segment_0"/>
            <p:cNvCxnSpPr>
              <a:stCxn id="128" idx="3"/>
              <a:endCxn id="152" idx="0"/>
            </p:cNvCxnSpPr>
            <p:nvPr/>
          </p:nvCxnSpPr>
          <p:spPr>
            <a:xfrm flipV="1">
              <a:off x="2189758" y="4523609"/>
              <a:ext cx="242545" cy="457"/>
            </a:xfrm>
            <a:prstGeom prst="line">
              <a:avLst/>
            </a:prstGeom>
            <a:ln w="12700">
              <a:solidFill>
                <a:srgbClr val="672DBE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intent_to_sparse_segment_1"/>
            <p:cNvCxnSpPr>
              <a:stCxn id="152" idx="0"/>
              <a:endCxn id="153" idx="0"/>
            </p:cNvCxnSpPr>
            <p:nvPr/>
          </p:nvCxnSpPr>
          <p:spPr>
            <a:xfrm>
              <a:off x="2432303" y="4523609"/>
              <a:ext cx="0" cy="152306"/>
            </a:xfrm>
            <a:prstGeom prst="line">
              <a:avLst/>
            </a:prstGeom>
            <a:ln w="12700">
              <a:solidFill>
                <a:srgbClr val="672DBE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intent_to_sparse_segment_2"/>
            <p:cNvCxnSpPr>
              <a:stCxn id="153" idx="0"/>
              <a:endCxn id="130" idx="1"/>
            </p:cNvCxnSpPr>
            <p:nvPr/>
          </p:nvCxnSpPr>
          <p:spPr>
            <a:xfrm>
              <a:off x="2432303" y="4675915"/>
              <a:ext cx="177089" cy="458"/>
            </a:xfrm>
            <a:prstGeom prst="line">
              <a:avLst/>
            </a:prstGeom>
            <a:ln w="12700">
              <a:solidFill>
                <a:srgbClr val="672DBE"/>
              </a:solidFill>
              <a:tailEnd type="triangle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7" name="anchor_intent_to_ast_0"/>
            <p:cNvSpPr/>
            <p:nvPr/>
          </p:nvSpPr>
          <p:spPr>
            <a:xfrm>
              <a:off x="2431846" y="4523609"/>
              <a:ext cx="914" cy="914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8" name="anchor_intent_to_ast_1"/>
            <p:cNvSpPr/>
            <p:nvPr/>
          </p:nvSpPr>
          <p:spPr>
            <a:xfrm>
              <a:off x="2431846" y="5611516"/>
              <a:ext cx="914" cy="914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159" name="intent_to_ast_segment_0"/>
            <p:cNvCxnSpPr>
              <a:stCxn id="128" idx="3"/>
              <a:endCxn id="157" idx="0"/>
            </p:cNvCxnSpPr>
            <p:nvPr/>
          </p:nvCxnSpPr>
          <p:spPr>
            <a:xfrm flipV="1">
              <a:off x="2189758" y="4523609"/>
              <a:ext cx="242545" cy="457"/>
            </a:xfrm>
            <a:prstGeom prst="line">
              <a:avLst/>
            </a:prstGeom>
            <a:ln w="12700">
              <a:solidFill>
                <a:srgbClr val="42A6A4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intent_to_ast_segment_1"/>
            <p:cNvCxnSpPr>
              <a:stCxn id="157" idx="0"/>
              <a:endCxn id="158" idx="0"/>
            </p:cNvCxnSpPr>
            <p:nvPr/>
          </p:nvCxnSpPr>
          <p:spPr>
            <a:xfrm>
              <a:off x="2432303" y="4523609"/>
              <a:ext cx="0" cy="1087907"/>
            </a:xfrm>
            <a:prstGeom prst="line">
              <a:avLst/>
            </a:prstGeom>
            <a:ln w="12700">
              <a:solidFill>
                <a:srgbClr val="42A6A4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intent_to_ast_segment_2"/>
            <p:cNvCxnSpPr>
              <a:stCxn id="158" idx="0"/>
              <a:endCxn id="143" idx="1"/>
            </p:cNvCxnSpPr>
            <p:nvPr/>
          </p:nvCxnSpPr>
          <p:spPr>
            <a:xfrm>
              <a:off x="2432303" y="5611516"/>
              <a:ext cx="177089" cy="458"/>
            </a:xfrm>
            <a:prstGeom prst="line">
              <a:avLst/>
            </a:prstGeom>
            <a:ln w="12700">
              <a:solidFill>
                <a:srgbClr val="42A6A4"/>
              </a:solidFill>
              <a:tailEnd type="triangle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2" name="anchor_dense_to_router_0"/>
            <p:cNvSpPr/>
            <p:nvPr/>
          </p:nvSpPr>
          <p:spPr>
            <a:xfrm>
              <a:off x="4556912" y="3762073"/>
              <a:ext cx="914" cy="914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3" name="anchor_dense_to_router_1"/>
            <p:cNvSpPr/>
            <p:nvPr/>
          </p:nvSpPr>
          <p:spPr>
            <a:xfrm>
              <a:off x="4556912" y="3870865"/>
              <a:ext cx="914" cy="914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164" name="dense_to_router_segment_0"/>
            <p:cNvCxnSpPr>
              <a:stCxn id="129" idx="3"/>
              <a:endCxn id="162" idx="0"/>
            </p:cNvCxnSpPr>
            <p:nvPr/>
          </p:nvCxnSpPr>
          <p:spPr>
            <a:xfrm flipV="1">
              <a:off x="4270551" y="3762073"/>
              <a:ext cx="286818" cy="458"/>
            </a:xfrm>
            <a:prstGeom prst="line">
              <a:avLst/>
            </a:prstGeom>
            <a:ln w="12700">
              <a:solidFill>
                <a:srgbClr val="345BD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dense_to_router_segment_1"/>
            <p:cNvCxnSpPr>
              <a:stCxn id="162" idx="0"/>
              <a:endCxn id="163" idx="0"/>
            </p:cNvCxnSpPr>
            <p:nvPr/>
          </p:nvCxnSpPr>
          <p:spPr>
            <a:xfrm flipH="1">
              <a:off x="4557369" y="3762073"/>
              <a:ext cx="0" cy="108792"/>
            </a:xfrm>
            <a:prstGeom prst="line">
              <a:avLst/>
            </a:prstGeom>
            <a:ln w="12700">
              <a:solidFill>
                <a:srgbClr val="345BD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dense_to_router_segment_2"/>
            <p:cNvCxnSpPr>
              <a:stCxn id="163" idx="0"/>
              <a:endCxn id="131" idx="1"/>
            </p:cNvCxnSpPr>
            <p:nvPr/>
          </p:nvCxnSpPr>
          <p:spPr>
            <a:xfrm>
              <a:off x="4557369" y="3870865"/>
              <a:ext cx="354178" cy="457"/>
            </a:xfrm>
            <a:prstGeom prst="line">
              <a:avLst/>
            </a:prstGeom>
            <a:ln w="12700">
              <a:solidFill>
                <a:srgbClr val="345BD2"/>
              </a:solidFill>
              <a:tailEnd type="triangle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7" name="anchor_dense_to_fusion_0"/>
            <p:cNvSpPr/>
            <p:nvPr/>
          </p:nvSpPr>
          <p:spPr>
            <a:xfrm>
              <a:off x="4468368" y="3762073"/>
              <a:ext cx="914" cy="914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8" name="anchor_dense_to_fusion_1"/>
            <p:cNvSpPr/>
            <p:nvPr/>
          </p:nvSpPr>
          <p:spPr>
            <a:xfrm>
              <a:off x="4468368" y="4828223"/>
              <a:ext cx="914" cy="914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169" name="dense_to_fusion_segment_0"/>
            <p:cNvCxnSpPr>
              <a:stCxn id="129" idx="3"/>
              <a:endCxn id="167" idx="0"/>
            </p:cNvCxnSpPr>
            <p:nvPr/>
          </p:nvCxnSpPr>
          <p:spPr>
            <a:xfrm flipV="1">
              <a:off x="4270551" y="3762073"/>
              <a:ext cx="198274" cy="458"/>
            </a:xfrm>
            <a:prstGeom prst="line">
              <a:avLst/>
            </a:prstGeom>
            <a:ln w="12700">
              <a:solidFill>
                <a:srgbClr val="63637E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dense_to_fusion_segment_1"/>
            <p:cNvCxnSpPr>
              <a:stCxn id="167" idx="0"/>
              <a:endCxn id="168" idx="0"/>
            </p:cNvCxnSpPr>
            <p:nvPr/>
          </p:nvCxnSpPr>
          <p:spPr>
            <a:xfrm>
              <a:off x="4468825" y="3762073"/>
              <a:ext cx="0" cy="1066150"/>
            </a:xfrm>
            <a:prstGeom prst="line">
              <a:avLst/>
            </a:prstGeom>
            <a:ln w="12700">
              <a:solidFill>
                <a:srgbClr val="63637E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dense_to_fusion_segment_2"/>
            <p:cNvCxnSpPr>
              <a:stCxn id="168" idx="0"/>
              <a:endCxn id="133" idx="1"/>
            </p:cNvCxnSpPr>
            <p:nvPr/>
          </p:nvCxnSpPr>
          <p:spPr>
            <a:xfrm>
              <a:off x="4468825" y="4828223"/>
              <a:ext cx="442722" cy="457"/>
            </a:xfrm>
            <a:prstGeom prst="line">
              <a:avLst/>
            </a:prstGeom>
            <a:ln w="12700">
              <a:solidFill>
                <a:srgbClr val="63637E"/>
              </a:solidFill>
              <a:tailEnd type="triangle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2" name="anchor_sparse_to_fusion_0"/>
            <p:cNvSpPr/>
            <p:nvPr/>
          </p:nvSpPr>
          <p:spPr>
            <a:xfrm>
              <a:off x="4556912" y="4675915"/>
              <a:ext cx="914" cy="914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3" name="anchor_sparse_to_fusion_1"/>
            <p:cNvSpPr/>
            <p:nvPr/>
          </p:nvSpPr>
          <p:spPr>
            <a:xfrm>
              <a:off x="4556912" y="4828223"/>
              <a:ext cx="914" cy="914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174" name="sparse_to_fusion_segment_0"/>
            <p:cNvCxnSpPr>
              <a:stCxn id="130" idx="3"/>
              <a:endCxn id="172" idx="0"/>
            </p:cNvCxnSpPr>
            <p:nvPr/>
          </p:nvCxnSpPr>
          <p:spPr>
            <a:xfrm flipV="1">
              <a:off x="4270551" y="4675915"/>
              <a:ext cx="286818" cy="458"/>
            </a:xfrm>
            <a:prstGeom prst="line">
              <a:avLst/>
            </a:prstGeom>
            <a:ln w="12700">
              <a:solidFill>
                <a:srgbClr val="63637E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parse_to_fusion_segment_1"/>
            <p:cNvCxnSpPr>
              <a:stCxn id="172" idx="0"/>
              <a:endCxn id="173" idx="0"/>
            </p:cNvCxnSpPr>
            <p:nvPr/>
          </p:nvCxnSpPr>
          <p:spPr>
            <a:xfrm flipH="1">
              <a:off x="4557369" y="4675915"/>
              <a:ext cx="0" cy="152308"/>
            </a:xfrm>
            <a:prstGeom prst="line">
              <a:avLst/>
            </a:prstGeom>
            <a:ln w="12700">
              <a:solidFill>
                <a:srgbClr val="63637E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parse_to_fusion_segment_2"/>
            <p:cNvCxnSpPr>
              <a:stCxn id="173" idx="0"/>
              <a:endCxn id="133" idx="1"/>
            </p:cNvCxnSpPr>
            <p:nvPr/>
          </p:nvCxnSpPr>
          <p:spPr>
            <a:xfrm>
              <a:off x="4557369" y="4828223"/>
              <a:ext cx="354178" cy="457"/>
            </a:xfrm>
            <a:prstGeom prst="line">
              <a:avLst/>
            </a:prstGeom>
            <a:ln w="12700">
              <a:solidFill>
                <a:srgbClr val="63637E"/>
              </a:solidFill>
              <a:tailEnd type="triangle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7" name="anchor_router_yes_fast_path_0"/>
            <p:cNvSpPr/>
            <p:nvPr/>
          </p:nvSpPr>
          <p:spPr>
            <a:xfrm>
              <a:off x="6859066" y="3870865"/>
              <a:ext cx="914" cy="914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8" name="anchor_router_yes_fast_path_1"/>
            <p:cNvSpPr/>
            <p:nvPr/>
          </p:nvSpPr>
          <p:spPr>
            <a:xfrm>
              <a:off x="6859066" y="3305153"/>
              <a:ext cx="914" cy="914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9" name="anchor_router_yes_fast_path_2"/>
            <p:cNvSpPr/>
            <p:nvPr/>
          </p:nvSpPr>
          <p:spPr>
            <a:xfrm>
              <a:off x="10523066" y="3305153"/>
              <a:ext cx="914" cy="914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180" name="router_yes_fast_path_segment_0"/>
            <p:cNvCxnSpPr>
              <a:stCxn id="131" idx="3"/>
              <a:endCxn id="177" idx="0"/>
            </p:cNvCxnSpPr>
            <p:nvPr/>
          </p:nvCxnSpPr>
          <p:spPr>
            <a:xfrm flipV="1">
              <a:off x="6661251" y="3870865"/>
              <a:ext cx="198272" cy="457"/>
            </a:xfrm>
            <a:prstGeom prst="line">
              <a:avLst/>
            </a:prstGeom>
            <a:ln w="12700">
              <a:solidFill>
                <a:srgbClr val="672DBE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router_yes_fast_path_segment_1"/>
            <p:cNvCxnSpPr>
              <a:stCxn id="177" idx="0"/>
              <a:endCxn id="178" idx="0"/>
            </p:cNvCxnSpPr>
            <p:nvPr/>
          </p:nvCxnSpPr>
          <p:spPr>
            <a:xfrm flipV="1">
              <a:off x="6859523" y="3305153"/>
              <a:ext cx="0" cy="565712"/>
            </a:xfrm>
            <a:prstGeom prst="line">
              <a:avLst/>
            </a:prstGeom>
            <a:ln w="12700">
              <a:solidFill>
                <a:srgbClr val="672DBE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router_yes_fast_path_segment_2"/>
            <p:cNvCxnSpPr>
              <a:stCxn id="178" idx="0"/>
              <a:endCxn id="179" idx="0"/>
            </p:cNvCxnSpPr>
            <p:nvPr/>
          </p:nvCxnSpPr>
          <p:spPr>
            <a:xfrm>
              <a:off x="6859523" y="3305153"/>
              <a:ext cx="3664000" cy="0"/>
            </a:xfrm>
            <a:prstGeom prst="line">
              <a:avLst/>
            </a:prstGeom>
            <a:ln w="12700">
              <a:solidFill>
                <a:srgbClr val="672DBE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router_yes_fast_path_segment_3"/>
            <p:cNvCxnSpPr>
              <a:stCxn id="179" idx="0"/>
              <a:endCxn id="134" idx="0"/>
            </p:cNvCxnSpPr>
            <p:nvPr/>
          </p:nvCxnSpPr>
          <p:spPr>
            <a:xfrm>
              <a:off x="10523523" y="3305153"/>
              <a:ext cx="0" cy="87490"/>
            </a:xfrm>
            <a:prstGeom prst="line">
              <a:avLst/>
            </a:prstGeom>
            <a:ln w="12700">
              <a:solidFill>
                <a:srgbClr val="672DBE"/>
              </a:solidFill>
              <a:tailEnd type="triangle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4" name="anchor_router_no_escalation_0"/>
            <p:cNvSpPr/>
            <p:nvPr/>
          </p:nvSpPr>
          <p:spPr>
            <a:xfrm>
              <a:off x="5785941" y="4480093"/>
              <a:ext cx="914" cy="914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5" name="anchor_router_no_escalation_1"/>
            <p:cNvSpPr/>
            <p:nvPr/>
          </p:nvSpPr>
          <p:spPr>
            <a:xfrm>
              <a:off x="6947611" y="4480093"/>
              <a:ext cx="914" cy="914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6" name="anchor_router_no_escalation_2"/>
            <p:cNvSpPr/>
            <p:nvPr/>
          </p:nvSpPr>
          <p:spPr>
            <a:xfrm>
              <a:off x="6947611" y="4349544"/>
              <a:ext cx="914" cy="914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187" name="router_no_escalation_segment_0"/>
            <p:cNvCxnSpPr>
              <a:stCxn id="131" idx="2"/>
              <a:endCxn id="184" idx="0"/>
            </p:cNvCxnSpPr>
            <p:nvPr/>
          </p:nvCxnSpPr>
          <p:spPr>
            <a:xfrm flipH="1">
              <a:off x="5786398" y="4393518"/>
              <a:ext cx="1" cy="86575"/>
            </a:xfrm>
            <a:prstGeom prst="line">
              <a:avLst/>
            </a:prstGeom>
            <a:ln w="12700">
              <a:solidFill>
                <a:srgbClr val="672DBE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router_no_escalation_segment_1"/>
            <p:cNvCxnSpPr>
              <a:stCxn id="184" idx="0"/>
              <a:endCxn id="185" idx="0"/>
            </p:cNvCxnSpPr>
            <p:nvPr/>
          </p:nvCxnSpPr>
          <p:spPr>
            <a:xfrm>
              <a:off x="5786398" y="4480093"/>
              <a:ext cx="1161670" cy="0"/>
            </a:xfrm>
            <a:prstGeom prst="line">
              <a:avLst/>
            </a:prstGeom>
            <a:ln w="12700">
              <a:solidFill>
                <a:srgbClr val="672DBE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router_no_escalation_segment_2"/>
            <p:cNvCxnSpPr>
              <a:stCxn id="185" idx="0"/>
              <a:endCxn id="186" idx="0"/>
            </p:cNvCxnSpPr>
            <p:nvPr/>
          </p:nvCxnSpPr>
          <p:spPr>
            <a:xfrm flipV="1">
              <a:off x="6948068" y="4349544"/>
              <a:ext cx="0" cy="130549"/>
            </a:xfrm>
            <a:prstGeom prst="line">
              <a:avLst/>
            </a:prstGeom>
            <a:ln w="12700">
              <a:solidFill>
                <a:srgbClr val="672DBE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router_no_escalation_segment_3"/>
            <p:cNvCxnSpPr>
              <a:stCxn id="186" idx="0"/>
              <a:endCxn id="132" idx="1"/>
            </p:cNvCxnSpPr>
            <p:nvPr/>
          </p:nvCxnSpPr>
          <p:spPr>
            <a:xfrm>
              <a:off x="6948068" y="4349544"/>
              <a:ext cx="88544" cy="457"/>
            </a:xfrm>
            <a:prstGeom prst="line">
              <a:avLst/>
            </a:prstGeom>
            <a:ln w="12700">
              <a:solidFill>
                <a:srgbClr val="672DBE"/>
              </a:solidFill>
              <a:tailEnd type="triangle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1" name="anchor_cross_to_output_0"/>
            <p:cNvSpPr/>
            <p:nvPr/>
          </p:nvSpPr>
          <p:spPr>
            <a:xfrm>
              <a:off x="9444563" y="4349544"/>
              <a:ext cx="914" cy="914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2" name="anchor_cross_to_output_1"/>
            <p:cNvSpPr/>
            <p:nvPr/>
          </p:nvSpPr>
          <p:spPr>
            <a:xfrm>
              <a:off x="9444563" y="4610641"/>
              <a:ext cx="914" cy="914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193" name="cross_to_output_segment_0"/>
            <p:cNvCxnSpPr>
              <a:stCxn id="132" idx="3"/>
              <a:endCxn id="191" idx="0"/>
            </p:cNvCxnSpPr>
            <p:nvPr/>
          </p:nvCxnSpPr>
          <p:spPr>
            <a:xfrm flipV="1">
              <a:off x="9140494" y="4349544"/>
              <a:ext cx="304526" cy="457"/>
            </a:xfrm>
            <a:prstGeom prst="line">
              <a:avLst/>
            </a:prstGeom>
            <a:ln w="12700">
              <a:solidFill>
                <a:srgbClr val="672DBE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cross_to_output_segment_1"/>
            <p:cNvCxnSpPr>
              <a:stCxn id="191" idx="0"/>
              <a:endCxn id="192" idx="0"/>
            </p:cNvCxnSpPr>
            <p:nvPr/>
          </p:nvCxnSpPr>
          <p:spPr>
            <a:xfrm>
              <a:off x="9445020" y="4349544"/>
              <a:ext cx="0" cy="261097"/>
            </a:xfrm>
            <a:prstGeom prst="line">
              <a:avLst/>
            </a:prstGeom>
            <a:ln w="12700">
              <a:solidFill>
                <a:srgbClr val="672DBE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cross_to_output_segment_2"/>
            <p:cNvCxnSpPr>
              <a:stCxn id="192" idx="0"/>
              <a:endCxn id="134" idx="1"/>
            </p:cNvCxnSpPr>
            <p:nvPr/>
          </p:nvCxnSpPr>
          <p:spPr>
            <a:xfrm>
              <a:off x="9445020" y="4610641"/>
              <a:ext cx="247924" cy="458"/>
            </a:xfrm>
            <a:prstGeom prst="line">
              <a:avLst/>
            </a:prstGeom>
            <a:ln w="12700">
              <a:solidFill>
                <a:srgbClr val="672DBE"/>
              </a:solidFill>
              <a:tailEnd type="triangle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6" name="anchor_fusion_to_output_0"/>
            <p:cNvSpPr/>
            <p:nvPr/>
          </p:nvSpPr>
          <p:spPr>
            <a:xfrm>
              <a:off x="9559670" y="4828223"/>
              <a:ext cx="914" cy="914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7" name="anchor_fusion_to_output_1"/>
            <p:cNvSpPr/>
            <p:nvPr/>
          </p:nvSpPr>
          <p:spPr>
            <a:xfrm>
              <a:off x="9559670" y="4610641"/>
              <a:ext cx="914" cy="914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198" name="fusion_to_output_segment_0"/>
            <p:cNvCxnSpPr>
              <a:stCxn id="133" idx="3"/>
              <a:endCxn id="196" idx="0"/>
            </p:cNvCxnSpPr>
            <p:nvPr/>
          </p:nvCxnSpPr>
          <p:spPr>
            <a:xfrm flipV="1">
              <a:off x="6528434" y="4828223"/>
              <a:ext cx="3031693" cy="457"/>
            </a:xfrm>
            <a:prstGeom prst="line">
              <a:avLst/>
            </a:prstGeom>
            <a:ln w="12700">
              <a:solidFill>
                <a:srgbClr val="63637E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fusion_to_output_segment_1"/>
            <p:cNvCxnSpPr>
              <a:stCxn id="196" idx="0"/>
              <a:endCxn id="197" idx="0"/>
            </p:cNvCxnSpPr>
            <p:nvPr/>
          </p:nvCxnSpPr>
          <p:spPr>
            <a:xfrm flipV="1">
              <a:off x="9560127" y="4610641"/>
              <a:ext cx="0" cy="217582"/>
            </a:xfrm>
            <a:prstGeom prst="line">
              <a:avLst/>
            </a:prstGeom>
            <a:ln w="12700">
              <a:solidFill>
                <a:srgbClr val="63637E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fusion_to_output_segment_2"/>
            <p:cNvCxnSpPr>
              <a:stCxn id="197" idx="0"/>
              <a:endCxn id="134" idx="1"/>
            </p:cNvCxnSpPr>
            <p:nvPr/>
          </p:nvCxnSpPr>
          <p:spPr>
            <a:xfrm>
              <a:off x="9560127" y="4610641"/>
              <a:ext cx="132817" cy="458"/>
            </a:xfrm>
            <a:prstGeom prst="line">
              <a:avLst/>
            </a:prstGeom>
            <a:ln w="12700">
              <a:solidFill>
                <a:srgbClr val="63637E"/>
              </a:solidFill>
              <a:tailEnd type="triangle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caller_to_auth_segment_0"/>
            <p:cNvCxnSpPr>
              <a:stCxn id="143" idx="3"/>
              <a:endCxn id="144" idx="1"/>
            </p:cNvCxnSpPr>
            <p:nvPr/>
          </p:nvCxnSpPr>
          <p:spPr>
            <a:xfrm>
              <a:off x="4359096" y="5611974"/>
              <a:ext cx="463906" cy="0"/>
            </a:xfrm>
            <a:prstGeom prst="line">
              <a:avLst/>
            </a:prstGeom>
            <a:ln w="12700">
              <a:solidFill>
                <a:srgbClr val="42A6A4"/>
              </a:solidFill>
              <a:tailEnd type="triangle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2" name="anchor_caller_to_bluetooth_0"/>
            <p:cNvSpPr/>
            <p:nvPr/>
          </p:nvSpPr>
          <p:spPr>
            <a:xfrm>
              <a:off x="3483786" y="5350419"/>
              <a:ext cx="914" cy="914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3" name="anchor_caller_to_bluetooth_1"/>
            <p:cNvSpPr/>
            <p:nvPr/>
          </p:nvSpPr>
          <p:spPr>
            <a:xfrm>
              <a:off x="8088095" y="5350419"/>
              <a:ext cx="914" cy="914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204" name="caller_to_bluetooth_segment_0"/>
            <p:cNvCxnSpPr>
              <a:stCxn id="143" idx="0"/>
              <a:endCxn id="202" idx="0"/>
            </p:cNvCxnSpPr>
            <p:nvPr/>
          </p:nvCxnSpPr>
          <p:spPr>
            <a:xfrm flipH="1" flipV="1">
              <a:off x="3484243" y="5350419"/>
              <a:ext cx="1" cy="43974"/>
            </a:xfrm>
            <a:prstGeom prst="line">
              <a:avLst/>
            </a:prstGeom>
            <a:ln w="12700">
              <a:solidFill>
                <a:srgbClr val="42A6A4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caller_to_bluetooth_segment_1"/>
            <p:cNvCxnSpPr>
              <a:stCxn id="202" idx="0"/>
              <a:endCxn id="203" idx="0"/>
            </p:cNvCxnSpPr>
            <p:nvPr/>
          </p:nvCxnSpPr>
          <p:spPr>
            <a:xfrm>
              <a:off x="3484243" y="5350419"/>
              <a:ext cx="4604309" cy="0"/>
            </a:xfrm>
            <a:prstGeom prst="line">
              <a:avLst/>
            </a:prstGeom>
            <a:ln w="12700">
              <a:solidFill>
                <a:srgbClr val="42A6A4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caller_to_bluetooth_segment_2"/>
            <p:cNvCxnSpPr>
              <a:stCxn id="203" idx="0"/>
              <a:endCxn id="145" idx="0"/>
            </p:cNvCxnSpPr>
            <p:nvPr/>
          </p:nvCxnSpPr>
          <p:spPr>
            <a:xfrm>
              <a:off x="8088552" y="5350419"/>
              <a:ext cx="1" cy="43974"/>
            </a:xfrm>
            <a:prstGeom prst="line">
              <a:avLst/>
            </a:prstGeom>
            <a:ln w="12700">
              <a:solidFill>
                <a:srgbClr val="42A6A4"/>
              </a:solidFill>
              <a:tailEnd type="triangle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7" name="anchor_ast_to_output_0"/>
            <p:cNvSpPr/>
            <p:nvPr/>
          </p:nvSpPr>
          <p:spPr>
            <a:xfrm>
              <a:off x="10523066" y="5611516"/>
              <a:ext cx="914" cy="914"/>
            </a:xfrm>
            <a:prstGeom prst="rect">
              <a:avLst/>
            </a:prstGeom>
            <a:noFill/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208" name="ast_to_output_segment_0"/>
            <p:cNvCxnSpPr>
              <a:stCxn id="145" idx="3"/>
              <a:endCxn id="207" idx="0"/>
            </p:cNvCxnSpPr>
            <p:nvPr/>
          </p:nvCxnSpPr>
          <p:spPr>
            <a:xfrm flipV="1">
              <a:off x="9140494" y="5611516"/>
              <a:ext cx="1383029" cy="458"/>
            </a:xfrm>
            <a:prstGeom prst="line">
              <a:avLst/>
            </a:prstGeom>
            <a:ln w="12700">
              <a:solidFill>
                <a:srgbClr val="42A6A4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ast_to_output_segment_1"/>
            <p:cNvCxnSpPr>
              <a:stCxn id="207" idx="0"/>
              <a:endCxn id="134" idx="2"/>
            </p:cNvCxnSpPr>
            <p:nvPr/>
          </p:nvCxnSpPr>
          <p:spPr>
            <a:xfrm>
              <a:off x="10523523" y="5611516"/>
              <a:ext cx="0" cy="218039"/>
            </a:xfrm>
            <a:prstGeom prst="line">
              <a:avLst/>
            </a:prstGeom>
            <a:ln w="12700">
              <a:solidFill>
                <a:srgbClr val="42A6A4"/>
              </a:solidFill>
              <a:tailEnd type="triangle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example_verified_structural_query"/>
          <p:cNvGrpSpPr/>
          <p:nvPr/>
        </p:nvGrpSpPr>
        <p:grpSpPr>
          <a:xfrm>
            <a:off x="838504" y="5960104"/>
            <a:ext cx="10515600" cy="217581"/>
            <a:chOff x="838504" y="5960104"/>
            <a:chExt cx="10515600" cy="217581"/>
          </a:xfrm>
        </p:grpSpPr>
        <p:sp>
          <p:nvSpPr>
            <p:cNvPr id="237" name="example_strip"/>
            <p:cNvSpPr/>
            <p:nvPr/>
          </p:nvSpPr>
          <p:spPr>
            <a:xfrm>
              <a:off x="838504" y="5960104"/>
              <a:ext cx="10515600" cy="217581"/>
            </a:xfrm>
            <a:prstGeom prst="rect">
              <a:avLst/>
            </a:prstGeom>
            <a:solidFill>
              <a:srgbClr val="63637E">
                <a:lumMod val="7000"/>
                <a:lumOff val="93000"/>
              </a:srgbClr>
            </a:solidFill>
            <a:ln w="12700">
              <a:solidFill>
                <a:srgbClr val="63637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8" name="example_query_caption"/>
            <p:cNvSpPr txBox="1"/>
            <p:nvPr/>
          </p:nvSpPr>
          <p:spPr>
            <a:xfrm>
              <a:off x="927049" y="5960104"/>
              <a:ext cx="5867019" cy="217581"/>
            </a:xfrm>
            <a:prstGeom prst="rect">
              <a:avLst/>
            </a:prstGeom>
            <a:noFill/>
          </p:spPr>
          <p:txBody>
            <a:bodyPr wrap="square" lIns="22860" rIns="22860" tIns="13716" bIns="13716" anchor="ctr">
              <a:spAutoFit/>
            </a:bodyPr>
            <a:lstStyle/>
            <a:p>
              <a:pPr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0">
                  <a:solidFill>
                    <a:schemeClr val="dk1"/>
                  </a:solidFill>
                  <a:latin typeface="Aptos"/>
                </a:rPr>
                <a:t>“Which files call tool authTool before bluetoothTool?”  →</a:t>
              </a:r>
            </a:p>
          </p:txBody>
        </p:sp>
        <p:sp>
          <p:nvSpPr>
            <p:cNvPr id="239" name="example_file_caption"/>
            <p:cNvSpPr txBox="1"/>
            <p:nvPr/>
          </p:nvSpPr>
          <p:spPr>
            <a:xfrm>
              <a:off x="7036612" y="5960104"/>
              <a:ext cx="4184675" cy="217581"/>
            </a:xfrm>
            <a:prstGeom prst="rect">
              <a:avLst/>
            </a:prstGeom>
            <a:noFill/>
          </p:spPr>
          <p:txBody>
            <a:bodyPr wrap="square" lIns="22860" rIns="22860" tIns="13716" bIns="13716" anchor="ctr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>
                  <a:solidFill>
                    <a:schemeClr val="dk1"/>
                  </a:solidFill>
                  <a:latin typeface="Consolas"/>
                </a:rPr>
                <a:t>agents/settingsAgent.js:18–29</a:t>
              </a:r>
            </a:p>
          </p:txBody>
        </p:sp>
      </p:grpSp>
      <p:sp>
        <p:nvSpPr>
          <p:cNvPr id="210" name="anchor_index_to_dense_0"/>
          <p:cNvSpPr/>
          <p:nvPr/>
        </p:nvSpPr>
        <p:spPr>
          <a:xfrm>
            <a:off x="9305581" y="3044055"/>
            <a:ext cx="914" cy="914"/>
          </a:xfrm>
          <a:prstGeom prst="rect">
            <a:avLst/>
          </a:prstGeom>
          <a:noFill/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1" name="anchor_index_to_dense_1"/>
          <p:cNvSpPr/>
          <p:nvPr/>
        </p:nvSpPr>
        <p:spPr>
          <a:xfrm>
            <a:off x="4689728" y="3044055"/>
            <a:ext cx="914" cy="914"/>
          </a:xfrm>
          <a:prstGeom prst="rect">
            <a:avLst/>
          </a:prstGeom>
          <a:noFill/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2" name="anchor_index_to_dense_2"/>
          <p:cNvSpPr/>
          <p:nvPr/>
        </p:nvSpPr>
        <p:spPr>
          <a:xfrm>
            <a:off x="4689728" y="3392186"/>
            <a:ext cx="914" cy="914"/>
          </a:xfrm>
          <a:prstGeom prst="rect">
            <a:avLst/>
          </a:prstGeom>
          <a:noFill/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3" name="anchor_index_to_dense_3"/>
          <p:cNvSpPr/>
          <p:nvPr/>
        </p:nvSpPr>
        <p:spPr>
          <a:xfrm>
            <a:off x="3439514" y="3392186"/>
            <a:ext cx="914" cy="914"/>
          </a:xfrm>
          <a:prstGeom prst="rect">
            <a:avLst/>
          </a:prstGeom>
          <a:noFill/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14" name="index_to_dense_segment_0"/>
          <p:cNvCxnSpPr>
            <a:stCxn id="120" idx="2"/>
            <a:endCxn id="210" idx="0"/>
          </p:cNvCxnSpPr>
          <p:nvPr/>
        </p:nvCxnSpPr>
        <p:spPr>
          <a:xfrm>
            <a:off x="9306038" y="2957480"/>
            <a:ext cx="0" cy="86575"/>
          </a:xfrm>
          <a:prstGeom prst="line">
            <a:avLst/>
          </a:prstGeom>
          <a:ln w="11430">
            <a:solidFill>
              <a:srgbClr val="345BD2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index_to_dense_segment_1"/>
          <p:cNvCxnSpPr>
            <a:stCxn id="210" idx="0"/>
            <a:endCxn id="211" idx="0"/>
          </p:cNvCxnSpPr>
          <p:nvPr/>
        </p:nvCxnSpPr>
        <p:spPr>
          <a:xfrm flipH="1">
            <a:off x="4690185" y="3044055"/>
            <a:ext cx="4615853" cy="0"/>
          </a:xfrm>
          <a:prstGeom prst="line">
            <a:avLst/>
          </a:prstGeom>
          <a:ln w="11430">
            <a:solidFill>
              <a:srgbClr val="345BD2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index_to_dense_segment_2"/>
          <p:cNvCxnSpPr>
            <a:stCxn id="211" idx="0"/>
            <a:endCxn id="212" idx="0"/>
          </p:cNvCxnSpPr>
          <p:nvPr/>
        </p:nvCxnSpPr>
        <p:spPr>
          <a:xfrm>
            <a:off x="4690185" y="3044055"/>
            <a:ext cx="0" cy="348131"/>
          </a:xfrm>
          <a:prstGeom prst="line">
            <a:avLst/>
          </a:prstGeom>
          <a:ln w="11430">
            <a:solidFill>
              <a:srgbClr val="345BD2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index_to_dense_segment_3"/>
          <p:cNvCxnSpPr>
            <a:stCxn id="212" idx="0"/>
            <a:endCxn id="213" idx="0"/>
          </p:cNvCxnSpPr>
          <p:nvPr/>
        </p:nvCxnSpPr>
        <p:spPr>
          <a:xfrm flipH="1">
            <a:off x="3439971" y="3392186"/>
            <a:ext cx="1250214" cy="0"/>
          </a:xfrm>
          <a:prstGeom prst="line">
            <a:avLst/>
          </a:prstGeom>
          <a:ln w="11430">
            <a:solidFill>
              <a:srgbClr val="345BD2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index_to_dense_segment_4"/>
          <p:cNvCxnSpPr>
            <a:stCxn id="213" idx="0"/>
            <a:endCxn id="129" idx="0"/>
          </p:cNvCxnSpPr>
          <p:nvPr/>
        </p:nvCxnSpPr>
        <p:spPr>
          <a:xfrm>
            <a:off x="3439971" y="3392186"/>
            <a:ext cx="0" cy="43973"/>
          </a:xfrm>
          <a:prstGeom prst="line">
            <a:avLst/>
          </a:prstGeom>
          <a:ln w="11430">
            <a:solidFill>
              <a:srgbClr val="345BD2"/>
            </a:solidFill>
            <a:prstDash val="dash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9" name="anchor_index_to_sparse_0"/>
          <p:cNvSpPr/>
          <p:nvPr/>
        </p:nvSpPr>
        <p:spPr>
          <a:xfrm>
            <a:off x="9305581" y="3000539"/>
            <a:ext cx="914" cy="914"/>
          </a:xfrm>
          <a:prstGeom prst="rect">
            <a:avLst/>
          </a:prstGeom>
          <a:noFill/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0" name="anchor_index_to_sparse_1"/>
          <p:cNvSpPr/>
          <p:nvPr/>
        </p:nvSpPr>
        <p:spPr>
          <a:xfrm>
            <a:off x="4778273" y="3000539"/>
            <a:ext cx="914" cy="914"/>
          </a:xfrm>
          <a:prstGeom prst="rect">
            <a:avLst/>
          </a:prstGeom>
          <a:noFill/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1" name="anchor_index_to_sparse_2"/>
          <p:cNvSpPr/>
          <p:nvPr/>
        </p:nvSpPr>
        <p:spPr>
          <a:xfrm>
            <a:off x="4778273" y="4262512"/>
            <a:ext cx="914" cy="914"/>
          </a:xfrm>
          <a:prstGeom prst="rect">
            <a:avLst/>
          </a:prstGeom>
          <a:noFill/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2" name="anchor_index_to_sparse_3"/>
          <p:cNvSpPr/>
          <p:nvPr/>
        </p:nvSpPr>
        <p:spPr>
          <a:xfrm>
            <a:off x="3439514" y="4262512"/>
            <a:ext cx="914" cy="914"/>
          </a:xfrm>
          <a:prstGeom prst="rect">
            <a:avLst/>
          </a:prstGeom>
          <a:noFill/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23" name="index_to_sparse_segment_0"/>
          <p:cNvCxnSpPr>
            <a:stCxn id="120" idx="2"/>
            <a:endCxn id="219" idx="0"/>
          </p:cNvCxnSpPr>
          <p:nvPr/>
        </p:nvCxnSpPr>
        <p:spPr>
          <a:xfrm>
            <a:off x="9306038" y="2957480"/>
            <a:ext cx="0" cy="43059"/>
          </a:xfrm>
          <a:prstGeom prst="line">
            <a:avLst/>
          </a:prstGeom>
          <a:ln w="11430">
            <a:solidFill>
              <a:srgbClr val="63637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index_to_sparse_segment_1"/>
          <p:cNvCxnSpPr>
            <a:stCxn id="219" idx="0"/>
            <a:endCxn id="220" idx="0"/>
          </p:cNvCxnSpPr>
          <p:nvPr/>
        </p:nvCxnSpPr>
        <p:spPr>
          <a:xfrm flipH="1">
            <a:off x="4778730" y="3000539"/>
            <a:ext cx="4527308" cy="0"/>
          </a:xfrm>
          <a:prstGeom prst="line">
            <a:avLst/>
          </a:prstGeom>
          <a:ln w="11430">
            <a:solidFill>
              <a:srgbClr val="63637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index_to_sparse_segment_2"/>
          <p:cNvCxnSpPr>
            <a:stCxn id="220" idx="0"/>
            <a:endCxn id="221" idx="0"/>
          </p:cNvCxnSpPr>
          <p:nvPr/>
        </p:nvCxnSpPr>
        <p:spPr>
          <a:xfrm>
            <a:off x="4778730" y="3000539"/>
            <a:ext cx="0" cy="1261973"/>
          </a:xfrm>
          <a:prstGeom prst="line">
            <a:avLst/>
          </a:prstGeom>
          <a:ln w="11430">
            <a:solidFill>
              <a:srgbClr val="63637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index_to_sparse_segment_3"/>
          <p:cNvCxnSpPr>
            <a:stCxn id="221" idx="0"/>
            <a:endCxn id="222" idx="0"/>
          </p:cNvCxnSpPr>
          <p:nvPr/>
        </p:nvCxnSpPr>
        <p:spPr>
          <a:xfrm flipH="1">
            <a:off x="3439971" y="4262512"/>
            <a:ext cx="1338759" cy="0"/>
          </a:xfrm>
          <a:prstGeom prst="line">
            <a:avLst/>
          </a:prstGeom>
          <a:ln w="11430">
            <a:solidFill>
              <a:srgbClr val="63637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index_to_sparse_segment_4"/>
          <p:cNvCxnSpPr>
            <a:stCxn id="222" idx="0"/>
            <a:endCxn id="130" idx="0"/>
          </p:cNvCxnSpPr>
          <p:nvPr/>
        </p:nvCxnSpPr>
        <p:spPr>
          <a:xfrm>
            <a:off x="3439971" y="4262512"/>
            <a:ext cx="0" cy="87489"/>
          </a:xfrm>
          <a:prstGeom prst="line">
            <a:avLst/>
          </a:prstGeom>
          <a:ln w="11430">
            <a:solidFill>
              <a:srgbClr val="63637E"/>
            </a:solidFill>
            <a:prstDash val="dash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8" name="anchor_graph_to_ast_0"/>
          <p:cNvSpPr/>
          <p:nvPr/>
        </p:nvSpPr>
        <p:spPr>
          <a:xfrm>
            <a:off x="9305581" y="3044055"/>
            <a:ext cx="914" cy="914"/>
          </a:xfrm>
          <a:prstGeom prst="rect">
            <a:avLst/>
          </a:prstGeom>
          <a:noFill/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9" name="anchor_graph_to_ast_1"/>
          <p:cNvSpPr/>
          <p:nvPr/>
        </p:nvSpPr>
        <p:spPr>
          <a:xfrm>
            <a:off x="9382582" y="3044055"/>
            <a:ext cx="914" cy="914"/>
          </a:xfrm>
          <a:prstGeom prst="rect">
            <a:avLst/>
          </a:prstGeom>
          <a:noFill/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0" name="anchor_graph_to_ast_2"/>
          <p:cNvSpPr/>
          <p:nvPr/>
        </p:nvSpPr>
        <p:spPr>
          <a:xfrm>
            <a:off x="9382582" y="5328661"/>
            <a:ext cx="914" cy="914"/>
          </a:xfrm>
          <a:prstGeom prst="rect">
            <a:avLst/>
          </a:prstGeom>
          <a:noFill/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1" name="anchor_graph_to_ast_3"/>
          <p:cNvSpPr/>
          <p:nvPr/>
        </p:nvSpPr>
        <p:spPr>
          <a:xfrm>
            <a:off x="8088095" y="5328661"/>
            <a:ext cx="914" cy="914"/>
          </a:xfrm>
          <a:prstGeom prst="rect">
            <a:avLst/>
          </a:prstGeom>
          <a:noFill/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32" name="graph_to_ast_segment_0"/>
          <p:cNvCxnSpPr>
            <a:stCxn id="120" idx="2"/>
            <a:endCxn id="228" idx="0"/>
          </p:cNvCxnSpPr>
          <p:nvPr/>
        </p:nvCxnSpPr>
        <p:spPr>
          <a:xfrm>
            <a:off x="9306038" y="2957480"/>
            <a:ext cx="0" cy="86575"/>
          </a:xfrm>
          <a:prstGeom prst="line">
            <a:avLst/>
          </a:prstGeom>
          <a:ln w="11430">
            <a:solidFill>
              <a:srgbClr val="42A6A4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graph_to_ast_segment_1"/>
          <p:cNvCxnSpPr>
            <a:stCxn id="228" idx="0"/>
            <a:endCxn id="229" idx="0"/>
          </p:cNvCxnSpPr>
          <p:nvPr/>
        </p:nvCxnSpPr>
        <p:spPr>
          <a:xfrm>
            <a:off x="9306038" y="3044055"/>
            <a:ext cx="77001" cy="0"/>
          </a:xfrm>
          <a:prstGeom prst="line">
            <a:avLst/>
          </a:prstGeom>
          <a:ln w="11430">
            <a:solidFill>
              <a:srgbClr val="42A6A4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graph_to_ast_segment_2"/>
          <p:cNvCxnSpPr>
            <a:stCxn id="229" idx="0"/>
            <a:endCxn id="230" idx="0"/>
          </p:cNvCxnSpPr>
          <p:nvPr/>
        </p:nvCxnSpPr>
        <p:spPr>
          <a:xfrm>
            <a:off x="9383039" y="3044055"/>
            <a:ext cx="0" cy="2284606"/>
          </a:xfrm>
          <a:prstGeom prst="line">
            <a:avLst/>
          </a:prstGeom>
          <a:ln w="11430">
            <a:solidFill>
              <a:srgbClr val="42A6A4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graph_to_ast_segment_3"/>
          <p:cNvCxnSpPr>
            <a:stCxn id="230" idx="0"/>
            <a:endCxn id="231" idx="0"/>
          </p:cNvCxnSpPr>
          <p:nvPr/>
        </p:nvCxnSpPr>
        <p:spPr>
          <a:xfrm flipH="1">
            <a:off x="8088552" y="5328661"/>
            <a:ext cx="1294487" cy="0"/>
          </a:xfrm>
          <a:prstGeom prst="line">
            <a:avLst/>
          </a:prstGeom>
          <a:ln w="11430">
            <a:solidFill>
              <a:srgbClr val="42A6A4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graph_to_ast_segment_4"/>
          <p:cNvCxnSpPr>
            <a:stCxn id="231" idx="0"/>
            <a:endCxn id="145" idx="0"/>
          </p:cNvCxnSpPr>
          <p:nvPr/>
        </p:nvCxnSpPr>
        <p:spPr>
          <a:xfrm>
            <a:off x="8088552" y="5328661"/>
            <a:ext cx="1" cy="65732"/>
          </a:xfrm>
          <a:prstGeom prst="line">
            <a:avLst/>
          </a:prstGeom>
          <a:ln w="11430">
            <a:solidFill>
              <a:srgbClr val="42A6A4"/>
            </a:solidFill>
            <a:prstDash val="dash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t>Demo &amp; Product Walkthrough</a:t>
            </a:r>
          </a:p>
        </p:txBody>
      </p:sp>
      <p:sp>
        <p:nvSpPr>
          <p:cNvPr id="120" name="Google Shape;120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121" name="Rounded Rectangle 120"/>
          <p:cNvSpPr/>
          <p:nvPr/>
        </p:nvSpPr>
        <p:spPr>
          <a:xfrm>
            <a:off x="777240" y="1691640"/>
            <a:ext cx="466344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Rectangle 121"/>
          <p:cNvSpPr/>
          <p:nvPr/>
        </p:nvSpPr>
        <p:spPr>
          <a:xfrm>
            <a:off x="777240" y="1691640"/>
            <a:ext cx="64008" cy="1600200"/>
          </a:xfrm>
          <a:prstGeom prst="rect">
            <a:avLst/>
          </a:prstGeom>
          <a:solidFill>
            <a:srgbClr val="672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941832" y="1801368"/>
            <a:ext cx="4407407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2122B"/>
                </a:solidFill>
                <a:latin typeface="Aptos"/>
              </a:rPr>
              <a:t>Usage query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941832" y="2194560"/>
            <a:ext cx="4407407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1E1F30"/>
                </a:solidFill>
                <a:latin typeface="Aptos"/>
              </a:rPr>
              <a:t>• “where is the Bluetooth-settings deeplink used?”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1E1F30"/>
                </a:solidFill>
                <a:latin typeface="Aptos"/>
              </a:rPr>
              <a:t>• agents/settingsAgent.js:24–30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1E1F30"/>
                </a:solidFill>
                <a:latin typeface="Aptos"/>
              </a:rPr>
              <a:t>• 0.17 ms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5623560" y="1691640"/>
            <a:ext cx="466344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Rectangle 125"/>
          <p:cNvSpPr/>
          <p:nvPr/>
        </p:nvSpPr>
        <p:spPr>
          <a:xfrm>
            <a:off x="5623560" y="1691640"/>
            <a:ext cx="64008" cy="1600200"/>
          </a:xfrm>
          <a:prstGeom prst="rect">
            <a:avLst/>
          </a:prstGeom>
          <a:solidFill>
            <a:srgbClr val="345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TextBox 126"/>
          <p:cNvSpPr txBox="1"/>
          <p:nvPr/>
        </p:nvSpPr>
        <p:spPr>
          <a:xfrm>
            <a:off x="5788152" y="1801368"/>
            <a:ext cx="4407407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2122B"/>
                </a:solidFill>
                <a:latin typeface="Aptos"/>
              </a:rPr>
              <a:t>Structural query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5788152" y="2194560"/>
            <a:ext cx="4407407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1E1F30"/>
                </a:solidFill>
                <a:latin typeface="Aptos"/>
              </a:rPr>
              <a:t>• authTool before bluetoothTool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1E1F30"/>
                </a:solidFill>
                <a:latin typeface="Aptos"/>
              </a:rPr>
              <a:t>• agents/settingsAgent.js:18–29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1E1F30"/>
                </a:solidFill>
                <a:latin typeface="Aptos"/>
              </a:rPr>
              <a:t>• 0.72 ms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777240" y="3611880"/>
            <a:ext cx="466344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Rectangle 129"/>
          <p:cNvSpPr/>
          <p:nvPr/>
        </p:nvSpPr>
        <p:spPr>
          <a:xfrm>
            <a:off x="777240" y="3611880"/>
            <a:ext cx="64008" cy="1600200"/>
          </a:xfrm>
          <a:prstGeom prst="rect">
            <a:avLst/>
          </a:prstGeom>
          <a:solidFill>
            <a:srgbClr val="42A6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TextBox 130"/>
          <p:cNvSpPr txBox="1"/>
          <p:nvPr/>
        </p:nvSpPr>
        <p:spPr>
          <a:xfrm>
            <a:off x="941832" y="3721608"/>
            <a:ext cx="4407407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2122B"/>
                </a:solidFill>
                <a:latin typeface="Aptos"/>
              </a:rPr>
              <a:t>Structural query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41832" y="4114800"/>
            <a:ext cx="4407407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1E1F30"/>
                </a:solidFill>
                <a:latin typeface="Aptos"/>
              </a:rPr>
              <a:t>• authTool before audioTool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1E1F30"/>
                </a:solidFill>
                <a:latin typeface="Aptos"/>
              </a:rPr>
              <a:t>• agents/mediaAgent.js:16–22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1E1F30"/>
                </a:solidFill>
                <a:latin typeface="Aptos"/>
              </a:rPr>
              <a:t>• 0.10 ms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5623560" y="3611880"/>
            <a:ext cx="466344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Rectangle 133"/>
          <p:cNvSpPr/>
          <p:nvPr/>
        </p:nvSpPr>
        <p:spPr>
          <a:xfrm>
            <a:off x="5623560" y="3611880"/>
            <a:ext cx="64008" cy="1600200"/>
          </a:xfrm>
          <a:prstGeom prst="rect">
            <a:avLst/>
          </a:prstGeom>
          <a:solidFill>
            <a:srgbClr val="672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TextBox 134"/>
          <p:cNvSpPr txBox="1"/>
          <p:nvPr/>
        </p:nvSpPr>
        <p:spPr>
          <a:xfrm>
            <a:off x="5788152" y="3721608"/>
            <a:ext cx="4407407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2122B"/>
                </a:solidFill>
                <a:latin typeface="Aptos"/>
              </a:rPr>
              <a:t>Optimization advisor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5788152" y="4114800"/>
            <a:ext cx="4407407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1E1F30"/>
                </a:solidFill>
                <a:latin typeface="Aptos"/>
              </a:rPr>
              <a:t>• Flags independent await statements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1E1F30"/>
                </a:solidFill>
                <a:latin typeface="Aptos"/>
              </a:rPr>
              <a:t>• Recommends Promise.all(...)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1E1F30"/>
                </a:solidFill>
                <a:latin typeface="Aptos"/>
              </a:rPr>
              <a:t>• Suggests session-token TTL caching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1463040" y="5532120"/>
            <a:ext cx="8229600" cy="658368"/>
          </a:xfrm>
          <a:prstGeom prst="roundRect">
            <a:avLst/>
          </a:prstGeom>
          <a:solidFill>
            <a:srgbClr val="F6F7FB"/>
          </a:solidFill>
          <a:ln>
            <a:solidFill>
              <a:srgbClr val="E1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2122B"/>
                </a:solidFill>
                <a:latin typeface="Aptos"/>
              </a:rPr>
              <a:t>Deployment: Streamlit web UI  •  Docker / Docker Compose  •  http://localhost:8501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t>Tools and tech stack used</a:t>
            </a:r>
          </a:p>
        </p:txBody>
      </p:sp>
      <p:sp>
        <p:nvSpPr>
          <p:cNvPr id="126" name="Google Shape;126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127" name="Rounded Rectangle 126"/>
          <p:cNvSpPr/>
          <p:nvPr/>
        </p:nvSpPr>
        <p:spPr>
          <a:xfrm>
            <a:off x="777240" y="1600200"/>
            <a:ext cx="32461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Rectangle 127"/>
          <p:cNvSpPr/>
          <p:nvPr/>
        </p:nvSpPr>
        <p:spPr>
          <a:xfrm>
            <a:off x="777240" y="1600200"/>
            <a:ext cx="64008" cy="1325880"/>
          </a:xfrm>
          <a:prstGeom prst="rect">
            <a:avLst/>
          </a:prstGeom>
          <a:solidFill>
            <a:srgbClr val="672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TextBox 128"/>
          <p:cNvSpPr txBox="1"/>
          <p:nvPr/>
        </p:nvSpPr>
        <p:spPr>
          <a:xfrm>
            <a:off x="941832" y="1709928"/>
            <a:ext cx="2990087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2122B"/>
                </a:solidFill>
                <a:latin typeface="Aptos"/>
              </a:rPr>
              <a:t>Embeddings &amp; ML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941832" y="2103120"/>
            <a:ext cx="2990087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1E1F30"/>
                </a:solidFill>
                <a:latin typeface="Aptos"/>
              </a:rPr>
              <a:t>• sentence-transformers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1E1F30"/>
                </a:solidFill>
                <a:latin typeface="Aptos"/>
              </a:rPr>
              <a:t>• all-MiniLM-L6-v2 • &lt;35M params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1E1F30"/>
                </a:solidFill>
                <a:latin typeface="Aptos"/>
              </a:rPr>
              <a:t>• Hard Negative Mining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4160520" y="1600200"/>
            <a:ext cx="32461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Rectangle 131"/>
          <p:cNvSpPr/>
          <p:nvPr/>
        </p:nvSpPr>
        <p:spPr>
          <a:xfrm>
            <a:off x="4160520" y="1600200"/>
            <a:ext cx="64008" cy="1325880"/>
          </a:xfrm>
          <a:prstGeom prst="rect">
            <a:avLst/>
          </a:prstGeom>
          <a:solidFill>
            <a:srgbClr val="345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extBox 132"/>
          <p:cNvSpPr txBox="1"/>
          <p:nvPr/>
        </p:nvSpPr>
        <p:spPr>
          <a:xfrm>
            <a:off x="4325112" y="1709928"/>
            <a:ext cx="2990087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2122B"/>
                </a:solidFill>
                <a:latin typeface="Aptos"/>
              </a:rPr>
              <a:t>Static Analysis &amp; AST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4325112" y="2103120"/>
            <a:ext cx="2990087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1E1F30"/>
                </a:solidFill>
                <a:latin typeface="Aptos"/>
              </a:rPr>
              <a:t>• tree-sitter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1E1F30"/>
                </a:solidFill>
                <a:latin typeface="Aptos"/>
              </a:rPr>
              <a:t>• JavaScript grammars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1E1F30"/>
                </a:solidFill>
                <a:latin typeface="Aptos"/>
              </a:rPr>
              <a:t>• AST complexity analyzer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7543800" y="1600200"/>
            <a:ext cx="27432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Rectangle 135"/>
          <p:cNvSpPr/>
          <p:nvPr/>
        </p:nvSpPr>
        <p:spPr>
          <a:xfrm>
            <a:off x="7543800" y="1600200"/>
            <a:ext cx="64008" cy="1325880"/>
          </a:xfrm>
          <a:prstGeom prst="rect">
            <a:avLst/>
          </a:prstGeom>
          <a:solidFill>
            <a:srgbClr val="42A6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TextBox 136"/>
          <p:cNvSpPr txBox="1"/>
          <p:nvPr/>
        </p:nvSpPr>
        <p:spPr>
          <a:xfrm>
            <a:off x="7708392" y="1709928"/>
            <a:ext cx="248716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2122B"/>
                </a:solidFill>
                <a:latin typeface="Aptos"/>
              </a:rPr>
              <a:t>Graph &amp; Ranking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7708392" y="2103120"/>
            <a:ext cx="2487168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1E1F30"/>
                </a:solidFill>
                <a:latin typeface="Aptos"/>
              </a:rPr>
              <a:t>• NetworkX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1E1F30"/>
                </a:solidFill>
                <a:latin typeface="Aptos"/>
              </a:rPr>
              <a:t>• PageRank centrality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1E1F30"/>
                </a:solidFill>
                <a:latin typeface="Aptos"/>
              </a:rPr>
              <a:t>• RRF k=20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777240" y="3246120"/>
            <a:ext cx="32461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Rectangle 139"/>
          <p:cNvSpPr/>
          <p:nvPr/>
        </p:nvSpPr>
        <p:spPr>
          <a:xfrm>
            <a:off x="777240" y="3246120"/>
            <a:ext cx="64008" cy="1325880"/>
          </a:xfrm>
          <a:prstGeom prst="rect">
            <a:avLst/>
          </a:prstGeom>
          <a:solidFill>
            <a:srgbClr val="672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TextBox 140"/>
          <p:cNvSpPr txBox="1"/>
          <p:nvPr/>
        </p:nvSpPr>
        <p:spPr>
          <a:xfrm>
            <a:off x="941832" y="3355848"/>
            <a:ext cx="2990087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2122B"/>
                </a:solidFill>
                <a:latin typeface="Aptos"/>
              </a:rPr>
              <a:t>Indexing &amp; Compression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941832" y="3749039"/>
            <a:ext cx="2990087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1E1F30"/>
                </a:solidFill>
                <a:latin typeface="Aptos"/>
              </a:rPr>
              <a:t>• VByte inverted-index compression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1E1F30"/>
                </a:solidFill>
                <a:latin typeface="Aptos"/>
              </a:rPr>
              <a:t>• SHA-256 incremental hashing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4160520" y="3246120"/>
            <a:ext cx="32461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Rectangle 143"/>
          <p:cNvSpPr/>
          <p:nvPr/>
        </p:nvSpPr>
        <p:spPr>
          <a:xfrm>
            <a:off x="4160520" y="3246120"/>
            <a:ext cx="64008" cy="1325880"/>
          </a:xfrm>
          <a:prstGeom prst="rect">
            <a:avLst/>
          </a:prstGeom>
          <a:solidFill>
            <a:srgbClr val="345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TextBox 144"/>
          <p:cNvSpPr txBox="1"/>
          <p:nvPr/>
        </p:nvSpPr>
        <p:spPr>
          <a:xfrm>
            <a:off x="4325112" y="3355848"/>
            <a:ext cx="2990087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2122B"/>
                </a:solidFill>
                <a:latin typeface="Aptos"/>
              </a:rPr>
              <a:t>Runtime &amp; Deployment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4325112" y="3749039"/>
            <a:ext cx="2990087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1E1F30"/>
                </a:solidFill>
                <a:latin typeface="Aptos"/>
              </a:rPr>
              <a:t>• Python 3.11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1E1F30"/>
                </a:solidFill>
                <a:latin typeface="Aptos"/>
              </a:rPr>
              <a:t>• Streamlit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1E1F30"/>
                </a:solidFill>
                <a:latin typeface="Aptos"/>
              </a:rPr>
              <a:t>• Docker / Docker Compose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7543800" y="3246120"/>
            <a:ext cx="27432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Rectangle 147"/>
          <p:cNvSpPr/>
          <p:nvPr/>
        </p:nvSpPr>
        <p:spPr>
          <a:xfrm>
            <a:off x="7543800" y="3246120"/>
            <a:ext cx="64008" cy="1325880"/>
          </a:xfrm>
          <a:prstGeom prst="rect">
            <a:avLst/>
          </a:prstGeom>
          <a:solidFill>
            <a:srgbClr val="42A6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TextBox 148"/>
          <p:cNvSpPr txBox="1"/>
          <p:nvPr/>
        </p:nvSpPr>
        <p:spPr>
          <a:xfrm>
            <a:off x="7708392" y="3355848"/>
            <a:ext cx="248716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2122B"/>
                </a:solidFill>
                <a:latin typeface="Aptos"/>
              </a:rPr>
              <a:t>Testing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7708392" y="3749039"/>
            <a:ext cx="2487168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1E1F30"/>
                </a:solidFill>
                <a:latin typeface="Aptos"/>
              </a:rPr>
              <a:t>• Pytest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1E1F30"/>
                </a:solidFill>
                <a:latin typeface="Aptos"/>
              </a:rPr>
              <a:t>• 157 automated tests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1E1F30"/>
                </a:solidFill>
                <a:latin typeface="Aptos"/>
              </a:rPr>
              <a:t>• 100% test pass rate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914400" y="5074920"/>
            <a:ext cx="9326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672DBE"/>
                </a:solidFill>
                <a:latin typeface="Aptos"/>
              </a:rPr>
              <a:t>Target platform: pure CPU inference with minimal indexing cost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t>Impact &amp; Use case</a:t>
            </a:r>
          </a:p>
        </p:txBody>
      </p:sp>
      <p:sp>
        <p:nvSpPr>
          <p:cNvPr id="132" name="Google Shape;132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133" name="Rounded Rectangle 132"/>
          <p:cNvSpPr/>
          <p:nvPr/>
        </p:nvSpPr>
        <p:spPr>
          <a:xfrm>
            <a:off x="777240" y="1600200"/>
            <a:ext cx="310896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Rectangle 133"/>
          <p:cNvSpPr/>
          <p:nvPr/>
        </p:nvSpPr>
        <p:spPr>
          <a:xfrm>
            <a:off x="777240" y="1600200"/>
            <a:ext cx="64008" cy="1828800"/>
          </a:xfrm>
          <a:prstGeom prst="rect">
            <a:avLst/>
          </a:prstGeom>
          <a:solidFill>
            <a:srgbClr val="672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TextBox 134"/>
          <p:cNvSpPr txBox="1"/>
          <p:nvPr/>
        </p:nvSpPr>
        <p:spPr>
          <a:xfrm>
            <a:off x="941832" y="1709928"/>
            <a:ext cx="285292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2122B"/>
                </a:solidFill>
                <a:latin typeface="Aptos"/>
              </a:rPr>
              <a:t>Target audience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941832" y="2103120"/>
            <a:ext cx="2852928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1E1F30"/>
                </a:solidFill>
                <a:latin typeface="Aptos"/>
              </a:rPr>
              <a:t>• Voice Assistant engineering teams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1E1F30"/>
                </a:solidFill>
                <a:latin typeface="Aptos"/>
              </a:rPr>
              <a:t>• Multi-agent frameworks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1E1F30"/>
                </a:solidFill>
                <a:latin typeface="Aptos"/>
              </a:rPr>
              <a:t>• Codebases with many tools and agents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4023360" y="1600200"/>
            <a:ext cx="310896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Rectangle 137"/>
          <p:cNvSpPr/>
          <p:nvPr/>
        </p:nvSpPr>
        <p:spPr>
          <a:xfrm>
            <a:off x="4023360" y="1600200"/>
            <a:ext cx="64008" cy="1828800"/>
          </a:xfrm>
          <a:prstGeom prst="rect">
            <a:avLst/>
          </a:prstGeom>
          <a:solidFill>
            <a:srgbClr val="345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TextBox 138"/>
          <p:cNvSpPr txBox="1"/>
          <p:nvPr/>
        </p:nvSpPr>
        <p:spPr>
          <a:xfrm>
            <a:off x="4187952" y="1709928"/>
            <a:ext cx="285292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2122B"/>
                </a:solidFill>
                <a:latin typeface="Aptos"/>
              </a:rPr>
              <a:t>Developer value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4187952" y="2103120"/>
            <a:ext cx="2852928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1E1F30"/>
                </a:solidFill>
                <a:latin typeface="Aptos"/>
              </a:rPr>
              <a:t>• Fast code navigation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1E1F30"/>
                </a:solidFill>
                <a:latin typeface="Aptos"/>
              </a:rPr>
              <a:t>• Exact file and line bounds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1E1F30"/>
                </a:solidFill>
                <a:latin typeface="Aptos"/>
              </a:rPr>
              <a:t>• Structural caller-order queries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7269480" y="1600200"/>
            <a:ext cx="310896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Rectangle 141"/>
          <p:cNvSpPr/>
          <p:nvPr/>
        </p:nvSpPr>
        <p:spPr>
          <a:xfrm>
            <a:off x="7269480" y="1600200"/>
            <a:ext cx="64008" cy="1828800"/>
          </a:xfrm>
          <a:prstGeom prst="rect">
            <a:avLst/>
          </a:prstGeom>
          <a:solidFill>
            <a:srgbClr val="42A6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TextBox 142"/>
          <p:cNvSpPr txBox="1"/>
          <p:nvPr/>
        </p:nvSpPr>
        <p:spPr>
          <a:xfrm>
            <a:off x="7434072" y="1709928"/>
            <a:ext cx="285292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2122B"/>
                </a:solidFill>
                <a:latin typeface="Aptos"/>
              </a:rPr>
              <a:t>Runtime value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7434072" y="2103120"/>
            <a:ext cx="2852928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1E1F30"/>
                </a:solidFill>
                <a:latin typeface="Aptos"/>
              </a:rPr>
              <a:t>• CPU-only inference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1E1F30"/>
                </a:solidFill>
                <a:latin typeface="Aptos"/>
              </a:rPr>
              <a:t>• P50 latency &lt;15 ms in CoIR configuration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1E1F30"/>
                </a:solidFill>
                <a:latin typeface="Aptos"/>
              </a:rPr>
              <a:t>• Local laptop / CI-friendly design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1097280" y="4069080"/>
            <a:ext cx="21945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1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TextBox 145"/>
          <p:cNvSpPr txBox="1"/>
          <p:nvPr/>
        </p:nvSpPr>
        <p:spPr>
          <a:xfrm>
            <a:off x="1170432" y="4178808"/>
            <a:ext cx="204825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672DBE"/>
                </a:solidFill>
                <a:latin typeface="Aptos"/>
              </a:rPr>
              <a:t>0.41 ms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170432" y="4599432"/>
            <a:ext cx="204825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>
                <a:solidFill>
                  <a:srgbClr val="5C5E70"/>
                </a:solidFill>
                <a:latin typeface="Aptos"/>
              </a:rPr>
              <a:t>Theme 01 mean latency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3794760" y="4069080"/>
            <a:ext cx="21945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1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TextBox 148"/>
          <p:cNvSpPr txBox="1"/>
          <p:nvPr/>
        </p:nvSpPr>
        <p:spPr>
          <a:xfrm>
            <a:off x="3867912" y="4178808"/>
            <a:ext cx="204825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345BD2"/>
                </a:solidFill>
                <a:latin typeface="Aptos"/>
              </a:rPr>
              <a:t>100%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867912" y="4599432"/>
            <a:ext cx="204825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>
                <a:solidFill>
                  <a:srgbClr val="5C5E70"/>
                </a:solidFill>
                <a:latin typeface="Aptos"/>
              </a:rPr>
              <a:t>Theme 01 Precision@k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6492240" y="4069080"/>
            <a:ext cx="21945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1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TextBox 151"/>
          <p:cNvSpPr txBox="1"/>
          <p:nvPr/>
        </p:nvSpPr>
        <p:spPr>
          <a:xfrm>
            <a:off x="6565392" y="4178808"/>
            <a:ext cx="204825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42A6A4"/>
                </a:solidFill>
                <a:latin typeface="Aptos"/>
              </a:rPr>
              <a:t>100%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6565392" y="4599432"/>
            <a:ext cx="204825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>
                <a:solidFill>
                  <a:srgbClr val="5C5E70"/>
                </a:solidFill>
                <a:latin typeface="Aptos"/>
              </a:rPr>
              <a:t>Theme 01 Recall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1097280" y="5303520"/>
            <a:ext cx="89611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1E1F30"/>
                </a:solidFill>
                <a:latin typeface="Aptos"/>
              </a:rPr>
              <a:t>Ariadne is designed to make large codebases searchable and structurally understandable without GPU infrastructure.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t>Innovation highlights, results and limitations</a:t>
            </a:r>
          </a:p>
        </p:txBody>
      </p:sp>
      <p:sp>
        <p:nvSpPr>
          <p:cNvPr id="138" name="Google Shape;138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  <p:sp>
        <p:nvSpPr>
          <p:cNvPr id="139" name="Rounded Rectangle 138"/>
          <p:cNvSpPr/>
          <p:nvPr/>
        </p:nvSpPr>
        <p:spPr>
          <a:xfrm>
            <a:off x="731520" y="1417320"/>
            <a:ext cx="20574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1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TextBox 139"/>
          <p:cNvSpPr txBox="1"/>
          <p:nvPr/>
        </p:nvSpPr>
        <p:spPr>
          <a:xfrm>
            <a:off x="804672" y="1527048"/>
            <a:ext cx="191109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672DBE"/>
                </a:solidFill>
                <a:latin typeface="Aptos"/>
              </a:rPr>
              <a:t>1.0000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804672" y="1947672"/>
            <a:ext cx="191109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>
                <a:solidFill>
                  <a:srgbClr val="5C5E70"/>
                </a:solidFill>
                <a:latin typeface="Aptos"/>
              </a:rPr>
              <a:t>Precision@k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2971800" y="1417320"/>
            <a:ext cx="20574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1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TextBox 142"/>
          <p:cNvSpPr txBox="1"/>
          <p:nvPr/>
        </p:nvSpPr>
        <p:spPr>
          <a:xfrm>
            <a:off x="3044952" y="1527048"/>
            <a:ext cx="191109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345BD2"/>
                </a:solidFill>
                <a:latin typeface="Aptos"/>
              </a:rPr>
              <a:t>1.0000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3044952" y="1947672"/>
            <a:ext cx="191109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>
                <a:solidFill>
                  <a:srgbClr val="5C5E70"/>
                </a:solidFill>
                <a:latin typeface="Aptos"/>
              </a:rPr>
              <a:t>Recall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5212080" y="1417320"/>
            <a:ext cx="20574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1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TextBox 145"/>
          <p:cNvSpPr txBox="1"/>
          <p:nvPr/>
        </p:nvSpPr>
        <p:spPr>
          <a:xfrm>
            <a:off x="5285232" y="1527048"/>
            <a:ext cx="191109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42A6A4"/>
                </a:solidFill>
                <a:latin typeface="Aptos"/>
              </a:rPr>
              <a:t>0.41 ms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5285232" y="1947672"/>
            <a:ext cx="191109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>
                <a:solidFill>
                  <a:srgbClr val="5C5E70"/>
                </a:solidFill>
                <a:latin typeface="Aptos"/>
              </a:rPr>
              <a:t>Mean latency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7452360" y="1417320"/>
            <a:ext cx="20574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1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TextBox 148"/>
          <p:cNvSpPr txBox="1"/>
          <p:nvPr/>
        </p:nvSpPr>
        <p:spPr>
          <a:xfrm>
            <a:off x="7525512" y="1527048"/>
            <a:ext cx="191109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672DBE"/>
                </a:solidFill>
                <a:latin typeface="Aptos"/>
              </a:rPr>
              <a:t>8.91 ms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7525512" y="1947672"/>
            <a:ext cx="191109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>
                <a:solidFill>
                  <a:srgbClr val="5C5E70"/>
                </a:solidFill>
                <a:latin typeface="Aptos"/>
              </a:rPr>
              <a:t>Indexing cost</a:t>
            </a:r>
          </a:p>
        </p:txBody>
      </p:sp>
      <p:graphicFrame>
        <p:nvGraphicFramePr>
          <p:cNvPr id="151" name="Table 150"/>
          <p:cNvGraphicFramePr>
            <a:graphicFrameLocks noGrp="1"/>
          </p:cNvGraphicFramePr>
          <p:nvPr/>
        </p:nvGraphicFramePr>
        <p:xfrm>
          <a:off x="731520" y="2606040"/>
          <a:ext cx="950976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2122B"/>
                          </a:solidFill>
                          <a:latin typeface="Aptos"/>
                        </a:rPr>
                        <a:t>Configuration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2122B"/>
                          </a:solidFill>
                          <a:latin typeface="Aptos"/>
                        </a:rPr>
                        <a:t>NDCG@10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2122B"/>
                          </a:solidFill>
                          <a:latin typeface="Aptos"/>
                        </a:rPr>
                        <a:t>MRR@10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2122B"/>
                          </a:solidFill>
                          <a:latin typeface="Aptos"/>
                        </a:rPr>
                        <a:t>P50 latency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E1F30"/>
                          </a:solidFill>
                          <a:latin typeface="Aptos"/>
                        </a:rPr>
                        <a:t>Dense Bi-Encoder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E1F30"/>
                          </a:solidFill>
                          <a:latin typeface="Aptos"/>
                        </a:rPr>
                        <a:t>0.7391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E1F30"/>
                          </a:solidFill>
                          <a:latin typeface="Aptos"/>
                        </a:rPr>
                        <a:t>0.7065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E1F30"/>
                          </a:solidFill>
                          <a:latin typeface="Aptos"/>
                        </a:rPr>
                        <a:t>12.4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E1F30"/>
                          </a:solidFill>
                          <a:latin typeface="Aptos"/>
                        </a:rPr>
                        <a:t>Hybrid Fusion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E1F30"/>
                          </a:solidFill>
                          <a:latin typeface="Aptos"/>
                        </a:rPr>
                        <a:t>0.7214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E1F30"/>
                          </a:solidFill>
                          <a:latin typeface="Aptos"/>
                        </a:rPr>
                        <a:t>0.6825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E1F30"/>
                          </a:solidFill>
                          <a:latin typeface="Aptos"/>
                        </a:rPr>
                        <a:t>14.8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E1F30"/>
                          </a:solidFill>
                          <a:latin typeface="Aptos"/>
                        </a:rPr>
                        <a:t>MS-MARCO Cross-Encoder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E1F30"/>
                          </a:solidFill>
                          <a:latin typeface="Aptos"/>
                        </a:rPr>
                        <a:t>0.6119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E1F30"/>
                          </a:solidFill>
                          <a:latin typeface="Aptos"/>
                        </a:rPr>
                        <a:t>0.5531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E1F30"/>
                          </a:solidFill>
                          <a:latin typeface="Aptos"/>
                        </a:rPr>
                        <a:t>185.0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E1F30"/>
                          </a:solidFill>
                          <a:latin typeface="Aptos"/>
                        </a:rPr>
                        <a:t>Cascade Router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E1F30"/>
                          </a:solidFill>
                          <a:latin typeface="Aptos"/>
                        </a:rPr>
                        <a:t>0.6998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E1F30"/>
                          </a:solidFill>
                          <a:latin typeface="Aptos"/>
                        </a:rPr>
                        <a:t>0.6689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E1F30"/>
                          </a:solidFill>
                          <a:latin typeface="Aptos"/>
                        </a:rPr>
                        <a:t>15.2 ms • 58% fast-path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2" name="TextBox 151"/>
          <p:cNvSpPr txBox="1"/>
          <p:nvPr/>
        </p:nvSpPr>
        <p:spPr>
          <a:xfrm>
            <a:off x="868680" y="4892040"/>
            <a:ext cx="93268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0">
                <a:solidFill>
                  <a:srgbClr val="1E1F30"/>
                </a:solidFill>
                <a:latin typeface="Aptos"/>
              </a:rPr>
              <a:t>• Limitations: static AST cannot inspect dynamic reflection such as eval() or dynamic string dispatch tools[action]().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E1F30"/>
                </a:solidFill>
                <a:latin typeface="Aptos"/>
              </a:rPr>
              <a:t>• Current optimization focus: JavaScript and Python; additional languages require Tree-Sitter grammar packs.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t>What’s next</a:t>
            </a:r>
          </a:p>
        </p:txBody>
      </p:sp>
      <p:sp>
        <p:nvSpPr>
          <p:cNvPr id="145" name="Oval 144"/>
          <p:cNvSpPr/>
          <p:nvPr/>
        </p:nvSpPr>
        <p:spPr>
          <a:xfrm>
            <a:off x="868680" y="1508760"/>
            <a:ext cx="502920" cy="502920"/>
          </a:xfrm>
          <a:prstGeom prst="ellipse">
            <a:avLst/>
          </a:prstGeom>
          <a:solidFill>
            <a:srgbClr val="672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1554480" y="1490472"/>
            <a:ext cx="8138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dirty="0">
                <a:solidFill>
                  <a:srgbClr val="12122B"/>
                </a:solidFill>
                <a:latin typeface="Aptos"/>
              </a:rPr>
              <a:t>Samsung Bixby IDE / VS Code Extension</a:t>
            </a:r>
          </a:p>
          <a:p>
            <a:pPr>
              <a:spcBef>
                <a:spcPts val="300"/>
              </a:spcBef>
            </a:pPr>
            <a:r>
              <a:rPr sz="1150" b="0" dirty="0">
                <a:solidFill>
                  <a:srgbClr val="1E1F30"/>
                </a:solidFill>
                <a:latin typeface="Aptos"/>
              </a:rPr>
              <a:t>Live tool-dependency visualization and caller-order safety linting.</a:t>
            </a:r>
          </a:p>
        </p:txBody>
      </p:sp>
      <p:sp>
        <p:nvSpPr>
          <p:cNvPr id="147" name="Oval 146"/>
          <p:cNvSpPr/>
          <p:nvPr/>
        </p:nvSpPr>
        <p:spPr>
          <a:xfrm>
            <a:off x="868680" y="2606039"/>
            <a:ext cx="502920" cy="502920"/>
          </a:xfrm>
          <a:prstGeom prst="ellipse">
            <a:avLst/>
          </a:prstGeom>
          <a:solidFill>
            <a:srgbClr val="345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554480" y="2587751"/>
            <a:ext cx="8138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2122B"/>
                </a:solidFill>
                <a:latin typeface="Aptos"/>
              </a:rPr>
              <a:t>Hybrid Static + Dynamic Tracing</a:t>
            </a:r>
          </a:p>
          <a:p>
            <a:pPr>
              <a:spcBef>
                <a:spcPts val="300"/>
              </a:spcBef>
            </a:pPr>
            <a:r>
              <a:rPr sz="1150" b="0">
                <a:solidFill>
                  <a:srgbClr val="1E1F30"/>
                </a:solidFill>
                <a:latin typeface="Aptos"/>
              </a:rPr>
              <a:t>Combine AST call graphs with OpenTelemetry execution logs.</a:t>
            </a:r>
          </a:p>
        </p:txBody>
      </p:sp>
      <p:sp>
        <p:nvSpPr>
          <p:cNvPr id="149" name="Oval 148"/>
          <p:cNvSpPr/>
          <p:nvPr/>
        </p:nvSpPr>
        <p:spPr>
          <a:xfrm>
            <a:off x="868680" y="3703320"/>
            <a:ext cx="502920" cy="502920"/>
          </a:xfrm>
          <a:prstGeom prst="ellipse">
            <a:avLst/>
          </a:prstGeom>
          <a:solidFill>
            <a:srgbClr val="42A6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1554480" y="3685032"/>
            <a:ext cx="8138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2122B"/>
                </a:solidFill>
                <a:latin typeface="Aptos"/>
              </a:rPr>
              <a:t>Automated CI/CD Safety Gate</a:t>
            </a:r>
          </a:p>
          <a:p>
            <a:pPr>
              <a:spcBef>
                <a:spcPts val="300"/>
              </a:spcBef>
            </a:pPr>
            <a:r>
              <a:rPr sz="1150" b="0">
                <a:solidFill>
                  <a:srgbClr val="1E1F30"/>
                </a:solidFill>
                <a:latin typeface="Aptos"/>
              </a:rPr>
              <a:t>GitHub Action bot for security-order violations in tool calls.</a:t>
            </a:r>
          </a:p>
        </p:txBody>
      </p:sp>
      <p:sp>
        <p:nvSpPr>
          <p:cNvPr id="151" name="Oval 150"/>
          <p:cNvSpPr/>
          <p:nvPr/>
        </p:nvSpPr>
        <p:spPr>
          <a:xfrm>
            <a:off x="868680" y="4800600"/>
            <a:ext cx="502920" cy="502920"/>
          </a:xfrm>
          <a:prstGeom prst="ellipse">
            <a:avLst/>
          </a:prstGeom>
          <a:solidFill>
            <a:srgbClr val="672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1554480" y="4782312"/>
            <a:ext cx="8138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2122B"/>
                </a:solidFill>
                <a:latin typeface="Aptos"/>
              </a:rPr>
              <a:t>Cinematic Visualization Frontend</a:t>
            </a:r>
          </a:p>
          <a:p>
            <a:pPr>
              <a:spcBef>
                <a:spcPts val="300"/>
              </a:spcBef>
            </a:pPr>
            <a:r>
              <a:rPr sz="1150" b="0">
                <a:solidFill>
                  <a:srgbClr val="1E1F30"/>
                </a:solidFill>
                <a:latin typeface="Aptos"/>
              </a:rPr>
              <a:t>Interactive React + Vite + Framer Motion visualizer.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t>Brownie points slide (differentiation)</a:t>
            </a:r>
          </a:p>
        </p:txBody>
      </p:sp>
      <p:sp>
        <p:nvSpPr>
          <p:cNvPr id="150" name="Google Shape;150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151" name="Rounded Rectangle 150"/>
          <p:cNvSpPr/>
          <p:nvPr/>
        </p:nvSpPr>
        <p:spPr>
          <a:xfrm>
            <a:off x="868680" y="1463040"/>
            <a:ext cx="932688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Rectangle 151"/>
          <p:cNvSpPr/>
          <p:nvPr/>
        </p:nvSpPr>
        <p:spPr>
          <a:xfrm>
            <a:off x="868680" y="1463040"/>
            <a:ext cx="64008" cy="713232"/>
          </a:xfrm>
          <a:prstGeom prst="rect">
            <a:avLst/>
          </a:prstGeom>
          <a:solidFill>
            <a:srgbClr val="672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TextBox 152"/>
          <p:cNvSpPr txBox="1"/>
          <p:nvPr/>
        </p:nvSpPr>
        <p:spPr>
          <a:xfrm>
            <a:off x="1033271" y="1572768"/>
            <a:ext cx="907084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50" b="1">
                <a:solidFill>
                  <a:srgbClr val="12122B"/>
                </a:solidFill>
                <a:latin typeface="Aptos"/>
              </a:rPr>
              <a:t>Not a generic LLM wrapper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1033271" y="1965960"/>
            <a:ext cx="9070848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130" b="0">
                <a:solidFill>
                  <a:srgbClr val="1E1F30"/>
                </a:solidFill>
                <a:latin typeface="Aptos"/>
              </a:rPr>
              <a:t>• Custom fine-tuned &lt;35M bi-encoder + Tree-Sitter call graph engine.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868680" y="2395728"/>
            <a:ext cx="932688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Rectangle 155"/>
          <p:cNvSpPr/>
          <p:nvPr/>
        </p:nvSpPr>
        <p:spPr>
          <a:xfrm>
            <a:off x="868680" y="2395728"/>
            <a:ext cx="64008" cy="713232"/>
          </a:xfrm>
          <a:prstGeom prst="rect">
            <a:avLst/>
          </a:prstGeom>
          <a:solidFill>
            <a:srgbClr val="345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TextBox 156"/>
          <p:cNvSpPr txBox="1"/>
          <p:nvPr/>
        </p:nvSpPr>
        <p:spPr>
          <a:xfrm>
            <a:off x="1033271" y="2505456"/>
            <a:ext cx="907084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50" b="1">
                <a:solidFill>
                  <a:srgbClr val="12122B"/>
                </a:solidFill>
                <a:latin typeface="Aptos"/>
              </a:rPr>
              <a:t>Sequential ordering solved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1033271" y="2898648"/>
            <a:ext cx="9070848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130" b="0">
                <a:solidFill>
                  <a:srgbClr val="1E1F30"/>
                </a:solidFill>
                <a:latin typeface="Aptos"/>
              </a:rPr>
              <a:t>• AST structural analysis answers “A before B” deterministically.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868680" y="3328416"/>
            <a:ext cx="932688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Rectangle 159"/>
          <p:cNvSpPr/>
          <p:nvPr/>
        </p:nvSpPr>
        <p:spPr>
          <a:xfrm>
            <a:off x="868680" y="3328416"/>
            <a:ext cx="64008" cy="713232"/>
          </a:xfrm>
          <a:prstGeom prst="rect">
            <a:avLst/>
          </a:prstGeom>
          <a:solidFill>
            <a:srgbClr val="42A6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TextBox 160"/>
          <p:cNvSpPr txBox="1"/>
          <p:nvPr/>
        </p:nvSpPr>
        <p:spPr>
          <a:xfrm>
            <a:off x="1033271" y="3438144"/>
            <a:ext cx="907084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50" b="1">
                <a:solidFill>
                  <a:srgbClr val="12122B"/>
                </a:solidFill>
                <a:latin typeface="Aptos"/>
              </a:rPr>
              <a:t>Cascade routing economy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1033271" y="3831336"/>
            <a:ext cx="9070848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130" b="0">
                <a:solidFill>
                  <a:srgbClr val="1E1F30"/>
                </a:solidFill>
                <a:latin typeface="Aptos"/>
              </a:rPr>
              <a:t>• 58% of queries use the fast path, avoiding unnecessary reranking.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868680" y="4261104"/>
            <a:ext cx="932688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Rectangle 163"/>
          <p:cNvSpPr/>
          <p:nvPr/>
        </p:nvSpPr>
        <p:spPr>
          <a:xfrm>
            <a:off x="868680" y="4261104"/>
            <a:ext cx="64008" cy="713232"/>
          </a:xfrm>
          <a:prstGeom prst="rect">
            <a:avLst/>
          </a:prstGeom>
          <a:solidFill>
            <a:srgbClr val="672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TextBox 164"/>
          <p:cNvSpPr txBox="1"/>
          <p:nvPr/>
        </p:nvSpPr>
        <p:spPr>
          <a:xfrm>
            <a:off x="1033271" y="4370832"/>
            <a:ext cx="907084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50" b="1">
                <a:solidFill>
                  <a:srgbClr val="12122B"/>
                </a:solidFill>
                <a:latin typeface="Aptos"/>
              </a:rPr>
              <a:t>Proactive optimization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1033271" y="4764024"/>
            <a:ext cx="9070848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130" b="0">
                <a:solidFill>
                  <a:srgbClr val="1E1F30"/>
                </a:solidFill>
                <a:latin typeface="Aptos"/>
              </a:rPr>
              <a:t>• Flags complexity, async parallelization and token-cache opportunities.</a:t>
            </a:r>
          </a:p>
        </p:txBody>
      </p:sp>
      <p:sp>
        <p:nvSpPr>
          <p:cNvPr id="167" name="Rounded Rectangle 166"/>
          <p:cNvSpPr/>
          <p:nvPr/>
        </p:nvSpPr>
        <p:spPr>
          <a:xfrm>
            <a:off x="868680" y="5193792"/>
            <a:ext cx="932688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Rectangle 167"/>
          <p:cNvSpPr/>
          <p:nvPr/>
        </p:nvSpPr>
        <p:spPr>
          <a:xfrm>
            <a:off x="868680" y="5193792"/>
            <a:ext cx="64008" cy="713232"/>
          </a:xfrm>
          <a:prstGeom prst="rect">
            <a:avLst/>
          </a:prstGeom>
          <a:solidFill>
            <a:srgbClr val="345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9" name="TextBox 168"/>
          <p:cNvSpPr txBox="1"/>
          <p:nvPr/>
        </p:nvSpPr>
        <p:spPr>
          <a:xfrm>
            <a:off x="1033271" y="5303520"/>
            <a:ext cx="907084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50" b="1">
                <a:solidFill>
                  <a:srgbClr val="12122B"/>
                </a:solidFill>
                <a:latin typeface="Aptos"/>
              </a:rPr>
              <a:t>Engineering rigor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1033271" y="5696712"/>
            <a:ext cx="9070848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130" b="0">
                <a:solidFill>
                  <a:srgbClr val="1E1F30"/>
                </a:solidFill>
                <a:latin typeface="Aptos"/>
              </a:rPr>
              <a:t>• 157 automated tests with a 100% pass rate reported in the project docs.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t>Checklist — Updated on Public GitHub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868680" y="1463040"/>
            <a:ext cx="923544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E1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TextBox 157"/>
          <p:cNvSpPr txBox="1"/>
          <p:nvPr/>
        </p:nvSpPr>
        <p:spPr>
          <a:xfrm>
            <a:off x="1051560" y="1545336"/>
            <a:ext cx="72237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20" b="0">
                <a:solidFill>
                  <a:srgbClr val="1E1F30"/>
                </a:solidFill>
                <a:latin typeface="Aptos"/>
              </a:rPr>
              <a:t>Working prototype code — public/shared GitHub repo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8229600" y="1545336"/>
            <a:ext cx="1554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50" b="1">
                <a:solidFill>
                  <a:srgbClr val="672DBE"/>
                </a:solidFill>
                <a:latin typeface="Aptos"/>
              </a:rPr>
              <a:t>YES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868680" y="2212848"/>
            <a:ext cx="923544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E1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TextBox 160"/>
          <p:cNvSpPr txBox="1"/>
          <p:nvPr/>
        </p:nvSpPr>
        <p:spPr>
          <a:xfrm>
            <a:off x="1051560" y="2295144"/>
            <a:ext cx="72237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20" b="0">
                <a:solidFill>
                  <a:srgbClr val="1E1F30"/>
                </a:solidFill>
                <a:latin typeface="Aptos"/>
              </a:rPr>
              <a:t>README with reproducible setup instructions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8229600" y="2295144"/>
            <a:ext cx="1554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50" b="1">
                <a:solidFill>
                  <a:srgbClr val="672DBE"/>
                </a:solidFill>
                <a:latin typeface="Aptos"/>
              </a:rPr>
              <a:t>YES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868680" y="2962656"/>
            <a:ext cx="923544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E1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TextBox 163"/>
          <p:cNvSpPr txBox="1"/>
          <p:nvPr/>
        </p:nvSpPr>
        <p:spPr>
          <a:xfrm>
            <a:off x="1051560" y="3044952"/>
            <a:ext cx="72237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20" b="0">
                <a:solidFill>
                  <a:srgbClr val="1E1F30"/>
                </a:solidFill>
                <a:latin typeface="Aptos"/>
              </a:rPr>
              <a:t>Docker setup present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8229600" y="3044952"/>
            <a:ext cx="1554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50" b="1">
                <a:solidFill>
                  <a:srgbClr val="672DBE"/>
                </a:solidFill>
                <a:latin typeface="Aptos"/>
              </a:rPr>
              <a:t>YES</a:t>
            </a:r>
          </a:p>
        </p:txBody>
      </p:sp>
      <p:sp>
        <p:nvSpPr>
          <p:cNvPr id="166" name="Rounded Rectangle 165"/>
          <p:cNvSpPr/>
          <p:nvPr/>
        </p:nvSpPr>
        <p:spPr>
          <a:xfrm>
            <a:off x="868680" y="3712464"/>
            <a:ext cx="923544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E1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TextBox 166"/>
          <p:cNvSpPr txBox="1"/>
          <p:nvPr/>
        </p:nvSpPr>
        <p:spPr>
          <a:xfrm>
            <a:off x="1051560" y="3794760"/>
            <a:ext cx="72237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20" b="0">
                <a:solidFill>
                  <a:srgbClr val="1E1F30"/>
                </a:solidFill>
                <a:latin typeface="Aptos"/>
              </a:rPr>
              <a:t>Official release tag: PRISM_GENAI_HACKATHON_Y2026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8229600" y="3794760"/>
            <a:ext cx="1554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50" b="1">
                <a:solidFill>
                  <a:srgbClr val="672DBE"/>
                </a:solidFill>
                <a:latin typeface="Aptos"/>
              </a:rPr>
              <a:t>YES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868680" y="4462272"/>
            <a:ext cx="923544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E1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TextBox 169"/>
          <p:cNvSpPr txBox="1"/>
          <p:nvPr/>
        </p:nvSpPr>
        <p:spPr>
          <a:xfrm>
            <a:off x="1051560" y="4544568"/>
            <a:ext cx="72237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20" b="0">
                <a:solidFill>
                  <a:srgbClr val="1E1F30"/>
                </a:solidFill>
                <a:latin typeface="Aptos"/>
              </a:rPr>
              <a:t>Demo video, max 5 minutes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8229600" y="4544568"/>
            <a:ext cx="1554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50" b="1">
                <a:solidFill>
                  <a:srgbClr val="5C5E70"/>
                </a:solidFill>
                <a:latin typeface="Aptos"/>
              </a:rPr>
              <a:t>[Insert YouTube / Drive link]</a:t>
            </a:r>
          </a:p>
        </p:txBody>
      </p:sp>
      <p:sp>
        <p:nvSpPr>
          <p:cNvPr id="172" name="Rounded Rectangle 171"/>
          <p:cNvSpPr/>
          <p:nvPr/>
        </p:nvSpPr>
        <p:spPr>
          <a:xfrm>
            <a:off x="868680" y="5212079"/>
            <a:ext cx="923544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E1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3" name="TextBox 172"/>
          <p:cNvSpPr txBox="1"/>
          <p:nvPr/>
        </p:nvSpPr>
        <p:spPr>
          <a:xfrm>
            <a:off x="1051560" y="5294375"/>
            <a:ext cx="72237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20" b="0">
                <a:solidFill>
                  <a:srgbClr val="1E1F30"/>
                </a:solidFill>
                <a:latin typeface="Aptos"/>
              </a:rPr>
              <a:t>Presentation file (PPT or PDF)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8229600" y="5294375"/>
            <a:ext cx="1554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50" b="1">
                <a:solidFill>
                  <a:srgbClr val="672DBE"/>
                </a:solidFill>
                <a:latin typeface="Aptos"/>
              </a:rPr>
              <a:t>YES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2"/>
          <p:cNvSpPr txBox="1"/>
          <p:nvPr/>
        </p:nvSpPr>
        <p:spPr>
          <a:xfrm>
            <a:off x="936453" y="2171700"/>
            <a:ext cx="676656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4600"/>
              <a:buFont typeface="Arial"/>
              <a:buNone/>
            </a:pPr>
            <a:r>
              <a:rPr lang="en-US" sz="4600" b="1" i="0" u="none" strike="noStrike" cap="none" dirty="0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sz="4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2"/>
          <p:cNvSpPr txBox="1"/>
          <p:nvPr/>
        </p:nvSpPr>
        <p:spPr>
          <a:xfrm>
            <a:off x="777240" y="5897880"/>
            <a:ext cx="106070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Organised by the Language AI Team and the PRISM Team, Samsung R&amp;D Institute India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TextBox 163"/>
          <p:cNvSpPr txBox="1"/>
          <p:nvPr/>
        </p:nvSpPr>
        <p:spPr>
          <a:xfrm>
            <a:off x="1828800" y="4251960"/>
            <a:ext cx="73152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dirty="0">
                <a:solidFill>
                  <a:srgbClr val="672DBE"/>
                </a:solidFill>
                <a:latin typeface="Aptos"/>
              </a:rPr>
              <a:t>Team Aftermath  •  Theme 01 — Agentic Code Intelligence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1828800" y="4800600"/>
            <a:ext cx="7315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50" b="0">
                <a:solidFill>
                  <a:srgbClr val="5C5E70"/>
                </a:solidFill>
                <a:latin typeface="Aptos"/>
              </a:rPr>
              <a:t>https://github.com/AyushSinha2210/Team_Aftermath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1828800" y="5166360"/>
            <a:ext cx="73152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5C5E70"/>
                </a:solidFill>
                <a:latin typeface="Aptos"/>
              </a:rPr>
              <a:t>VIT Vellore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1063</Words>
  <Application>Microsoft Office PowerPoint</Application>
  <PresentationFormat>Widescreen</PresentationFormat>
  <Paragraphs>185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Arial</vt:lpstr>
      <vt:lpstr>Calibri</vt:lpstr>
      <vt:lpstr>Office Theme</vt:lpstr>
      <vt:lpstr>PowerPoint Presentation</vt:lpstr>
      <vt:lpstr>Theme</vt:lpstr>
      <vt:lpstr>Existing Solutions &amp; Gaps</vt:lpstr>
      <vt:lpstr>Our Solutions &amp; Architecture Diagram</vt:lpstr>
      <vt:lpstr>Demo &amp; Product Walkthrough</vt:lpstr>
      <vt:lpstr>Tools and tech stack used</vt:lpstr>
      <vt:lpstr>Impact &amp; Use case</vt:lpstr>
      <vt:lpstr>Innovation highlights, results and limitations</vt:lpstr>
      <vt:lpstr>What’s next</vt:lpstr>
      <vt:lpstr>Brownie points slide (differentiation)</vt:lpstr>
      <vt:lpstr>Checklist — Updated on Public GitHub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Binny Lakra/PRISM /SRI-Bangalore/Professional/Samsung Electronics</dc:creator>
  <cp:lastModifiedBy>ABHILASH SINGH</cp:lastModifiedBy>
  <cp:revision>1</cp:revision>
  <dcterms:created xsi:type="dcterms:W3CDTF">2026-09-07T12:01:01Z</dcterms:created>
  <dcterms:modified xsi:type="dcterms:W3CDTF">2026-09-30T13:29:51Z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